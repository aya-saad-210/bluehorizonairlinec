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We're the ops-tech team at Blue Horizon Airlines. Today we're telling you the story of a real problem that landed on our desk: connecting an LLM to our operations data safely, during irregular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the scene before any of this: a disrupted flight lands on an ops agent's desk, and they're flipping between a booking system, a crew roster, and a compensation spreadsheet, by hand, under time pressure. The naive fix people suggested was just wiring an LLM straight to our database. We pushed back on that immediately — because the risk isn't hypothetical. A model could rebook someone onto an already-cancelled flight, assign a pilot past their legal duty-time limit, or approve a payout with no ceiling. That's not a UX inconvenience, that's a safety and financial problem. That's the risk that justified everything you're about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built an MCP server that sits in front of the database. The model never gets a connection string — it gets a fixed set of tools, and the server decides what each one is allowed to do. We split tools into three tiers: read-only tools that are safe by nature, deterministic write tools where the rules are black-and-white, and human-gated write tools for the two genuinely risky actions — assigning reserve crew and issuing compensation. That tiering is what let us justify every protocol concern honestly instead of bolting features on for the sake of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decision we're genuinely glad we made: we refused to let the JSON Schema do all the work. Every write tool has three layers — the schema for shape, real business-rule validation that reads current data, and an authorization check inside the handler itself. It sounds obvious in hindsight, but early on we almost shipped tools that trusted 'the schema says it's an integer, so it must be fine' — and that's exactly the shortcut that would have let a bad crew ID or an unauthenticated request slip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concern: capability negotiation. This isn't decoration — it's the reason our client doesn't blindly assume the server can pause for a human. Watch: when we connect, the very first thing printed is the server's declared capabilities — tools, resources, prompts, elicitation, sampling. The client checks this before it ever offers a supervisor a risky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that changes the whole shape of the session. Right now, this client is a front-desk agent — watch the tool list: no assign_reserve_crew, no issue_compensation. Now I authenticate as a supervisor... and there — a real tools/list_changed notification just arrived, unprompted. I didn't reconnect, I didn't poll. And now the tool list has grown.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one with real teeth. Capt. Karim Mostafa is already at his daily duty-time limit today — 14 duty hours, 8 flying hours. I'm going to try to assign him as reserve crew on flight BH202... and the tool call pauses. It's asking a supervisor, live, whether to override. I'll approve it as sup_001 — and only now does the assignment actually get written. If I'd declined, nothing would have touched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duty-time policy behind that elicitation pause isn't buried in code — it's exposed as a real MCP resource. The model can read it directly: 8 flying hours, 14 duty hours, and when supervisor approval kicks in. That's the difference between a tool the model calls and data the model can just look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prompts. This is deliberately the simple one — a static, reusable template the host surfaces for a common task: drafting a disruption apology. Any client integration gets the same starting point instead of every developer writing their own version of this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one's easy to get wrong — it would be tempting for the server to just call its own LLM. Instead, generate_disruption_notice pulls the real disruption reason from the database, then asks the connected client's model to write the notice, through a genuine sampling/createMessage call. The server borrows the client's model, the same way elicitation borrows the client's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rebooking is the one operation that's genuinely slow — one passenger at a time, real database writes each time. Instead of leaving the client staring at a blank screen, it reports real progress per passenger as it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default to stdio just because it was the example in the material. We built it there deliberately, for local development — you can see that in our earliest commits. As we got closer to submission, we moved the default to Streamable HTTP, because Blue Horizon has agents at multiple locations who all need to reach one shared server, not spin up a subprocess each. Stdio stays as a fallback for quick debugging with the MCP Inspector.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ran in production tomorrow, here's what would keep us up at night. First — when a supervisor overrides a duty-time limit, that override only lives as text in a chat response, not as an auditable record we could query later: who overrode what, and when. Second — our session state is a single shared flag, fine for one connection, not fine for many ops agents hitting one HTTP server at once. And third, obviously, hardcoded demo credentials are a project shortcut, not a production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next: we'd persist those overrides properly, move to per-connection session state, replace the demo credentials with real auth, and tighten the schema constraints further — for example, hard min/max bounds on compensation amounts instead of relying only on the handler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happy to take questions, or dig deeper into any of the concerns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image" Target="../media/image-13-1.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5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3D5C"/>
          </a:solidFill>
          <a:ln/>
        </p:spPr>
      </p:sp>
      <p:pic>
        <p:nvPicPr>
          <p:cNvPr id="3" name="Image 0" descr="icon_shield_w.png">    </p:cNvPr>
          <p:cNvPicPr>
            <a:picLocks noChangeAspect="1"/>
          </p:cNvPicPr>
          <p:nvPr/>
        </p:nvPicPr>
        <p:blipFill>
          <a:blip r:embed="rId1"/>
          <a:stretch>
            <a:fillRect/>
          </a:stretch>
        </p:blipFill>
        <p:spPr>
          <a:xfrm>
            <a:off x="822960" y="2148840"/>
            <a:ext cx="1005840" cy="1005840"/>
          </a:xfrm>
          <a:prstGeom prst="rect">
            <a:avLst/>
          </a:prstGeom>
        </p:spPr>
      </p:pic>
      <p:sp>
        <p:nvSpPr>
          <p:cNvPr id="4" name="Text 1"/>
          <p:cNvSpPr/>
          <p:nvPr/>
        </p:nvSpPr>
        <p:spPr>
          <a:xfrm>
            <a:off x="2103120" y="2011680"/>
            <a:ext cx="9418320" cy="73152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Blue Horizon Airlines</a:t>
            </a:r>
            <a:endParaRPr lang="en-US" sz="3400" dirty="0"/>
          </a:p>
        </p:txBody>
      </p:sp>
      <p:sp>
        <p:nvSpPr>
          <p:cNvPr id="5" name="Text 2"/>
          <p:cNvSpPr/>
          <p:nvPr/>
        </p:nvSpPr>
        <p:spPr>
          <a:xfrm>
            <a:off x="2103120" y="2697480"/>
            <a:ext cx="9418320" cy="548640"/>
          </a:xfrm>
          <a:prstGeom prst="rect">
            <a:avLst/>
          </a:prstGeom>
          <a:noFill/>
          <a:ln/>
        </p:spPr>
        <p:txBody>
          <a:bodyPr wrap="square" rtlCol="0" anchor="ctr"/>
          <a:lstStyle/>
          <a:p>
            <a:pPr indent="0" marL="0">
              <a:buNone/>
            </a:pPr>
            <a:r>
              <a:rPr lang="en-US" sz="1800" dirty="0">
                <a:solidFill>
                  <a:srgbClr val="BFE3E3"/>
                </a:solidFill>
                <a:latin typeface="Arial" pitchFamily="34" charset="0"/>
                <a:ea typeface="Arial" pitchFamily="34" charset="-122"/>
                <a:cs typeface="Arial" pitchFamily="34" charset="-120"/>
              </a:rPr>
              <a:t>IROPS Assistant — Safe, Scoped LLM Access to Our Ops Data</a:t>
            </a:r>
            <a:endParaRPr lang="en-US" sz="1800" dirty="0"/>
          </a:p>
        </p:txBody>
      </p:sp>
      <p:sp>
        <p:nvSpPr>
          <p:cNvPr id="6" name="Text 3"/>
          <p:cNvSpPr/>
          <p:nvPr/>
        </p:nvSpPr>
        <p:spPr>
          <a:xfrm>
            <a:off x="2103120" y="3246120"/>
            <a:ext cx="9418320" cy="365760"/>
          </a:xfrm>
          <a:prstGeom prst="rect">
            <a:avLst/>
          </a:prstGeom>
          <a:noFill/>
          <a:ln/>
        </p:spPr>
        <p:txBody>
          <a:bodyPr wrap="square" rtlCol="0" anchor="ctr"/>
          <a:lstStyle/>
          <a:p>
            <a:pPr indent="0" marL="0">
              <a:buNone/>
            </a:pPr>
            <a:r>
              <a:rPr lang="en-US" sz="1300" i="1" dirty="0">
                <a:solidFill>
                  <a:srgbClr val="8FB8CE"/>
                </a:solidFill>
                <a:latin typeface="Arial" pitchFamily="34" charset="0"/>
                <a:ea typeface="Arial" pitchFamily="34" charset="-122"/>
                <a:cs typeface="Arial" pitchFamily="34" charset="-120"/>
              </a:rPr>
              <a:t>An MCP Server Project</a:t>
            </a:r>
            <a:endParaRPr lang="en-US" sz="1300" dirty="0"/>
          </a:p>
        </p:txBody>
      </p:sp>
      <p:sp>
        <p:nvSpPr>
          <p:cNvPr id="7" name="Text 4"/>
          <p:cNvSpPr/>
          <p:nvPr/>
        </p:nvSpPr>
        <p:spPr>
          <a:xfrm>
            <a:off x="822960" y="5943600"/>
            <a:ext cx="10515600" cy="457200"/>
          </a:xfrm>
          <a:prstGeom prst="rect">
            <a:avLst/>
          </a:prstGeom>
          <a:noFill/>
          <a:ln/>
        </p:spPr>
        <p:txBody>
          <a:bodyPr wrap="square" rtlCol="0" anchor="ctr"/>
          <a:lstStyle/>
          <a:p>
            <a:pPr indent="0" marL="0">
              <a:buNone/>
            </a:pPr>
            <a:r>
              <a:rPr lang="en-US" sz="1250" dirty="0">
                <a:solidFill>
                  <a:srgbClr val="D8E8EE"/>
                </a:solidFill>
                <a:latin typeface="Arial" pitchFamily="34" charset="0"/>
                <a:ea typeface="Arial" pitchFamily="34" charset="-122"/>
                <a:cs typeface="Arial" pitchFamily="34" charset="-120"/>
              </a:rPr>
              <a:t>عبدالعزيز سامي — Database &amp; Client      |      آية سعد — Server &amp; Tools &amp; DB Connection      |      خالد — Protocol Concerns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indent="0" marL="0">
              <a:buNone/>
            </a:pPr>
            <a:r>
              <a:rPr lang="en-US" sz="1300" b="1" spc="200" kern="0" dirty="0">
                <a:solidFill>
                  <a:srgbClr val="1E8A8A"/>
                </a:solidFill>
                <a:latin typeface="Arial" pitchFamily="34" charset="0"/>
                <a:ea typeface="Arial" pitchFamily="34" charset="-122"/>
                <a:cs typeface="Arial" pitchFamily="34" charset="-120"/>
              </a:rPr>
              <a:t>THE SETUP</a:t>
            </a:r>
            <a:endParaRPr lang="en-US" sz="1300" dirty="0"/>
          </a:p>
        </p:txBody>
      </p:sp>
      <p:sp>
        <p:nvSpPr>
          <p:cNvPr id="3" name="Text 1"/>
          <p:cNvSpPr/>
          <p:nvPr/>
        </p:nvSpPr>
        <p:spPr>
          <a:xfrm>
            <a:off x="548640" y="685800"/>
            <a:ext cx="10972800" cy="822960"/>
          </a:xfrm>
          <a:prstGeom prst="rect">
            <a:avLst/>
          </a:prstGeom>
          <a:noFill/>
          <a:ln/>
        </p:spPr>
        <p:txBody>
          <a:bodyPr wrap="square" rtlCol="0" anchor="ctr"/>
          <a:lstStyle/>
          <a:p>
            <a:pPr indent="0" marL="0">
              <a:buNone/>
            </a:pPr>
            <a:r>
              <a:rPr lang="en-US" sz="3000" b="1" dirty="0">
                <a:solidFill>
                  <a:srgbClr val="0B3D5C"/>
                </a:solidFill>
                <a:latin typeface="Arial" pitchFamily="34" charset="0"/>
                <a:ea typeface="Arial" pitchFamily="34" charset="-122"/>
                <a:cs typeface="Arial" pitchFamily="34" charset="-120"/>
              </a:rPr>
              <a:t>Who we are, and what IROPS looks like today</a:t>
            </a:r>
            <a:endParaRPr lang="en-US" sz="3000" dirty="0"/>
          </a:p>
        </p:txBody>
      </p:sp>
      <p:pic>
        <p:nvPicPr>
          <p:cNvPr id="4" name="Image 0" descr="icon_cpu.png">    </p:cNvPr>
          <p:cNvPicPr>
            <a:picLocks noChangeAspect="1"/>
          </p:cNvPicPr>
          <p:nvPr/>
        </p:nvPicPr>
        <p:blipFill>
          <a:blip r:embed="rId1"/>
          <a:stretch>
            <a:fillRect/>
          </a:stretch>
        </p:blipFill>
        <p:spPr>
          <a:xfrm>
            <a:off x="640080" y="1828800"/>
            <a:ext cx="502920" cy="502920"/>
          </a:xfrm>
          <a:prstGeom prst="rect">
            <a:avLst/>
          </a:prstGeom>
        </p:spPr>
      </p:pic>
      <p:sp>
        <p:nvSpPr>
          <p:cNvPr id="5" name="Text 2"/>
          <p:cNvSpPr/>
          <p:nvPr/>
        </p:nvSpPr>
        <p:spPr>
          <a:xfrm>
            <a:off x="1371600" y="1783080"/>
            <a:ext cx="10058400" cy="2103120"/>
          </a:xfrm>
          <a:prstGeom prst="rect">
            <a:avLst/>
          </a:prstGeom>
          <a:noFill/>
          <a:ln/>
        </p:spPr>
        <p:txBody>
          <a:bodyPr wrap="square" rtlCol="0" anchor="ctr"/>
          <a:lstStyle/>
          <a:p>
            <a:pPr marL="342900" indent="-342900">
              <a:spcAft>
                <a:spcPts val="1200"/>
              </a:spcAft>
              <a:buSzPct val="100000"/>
              <a:buChar char="•"/>
            </a:pPr>
            <a:r>
              <a:rPr lang="en-US" sz="1600" dirty="0">
                <a:solidFill>
                  <a:srgbClr val="1A1A1A"/>
                </a:solidFill>
                <a:latin typeface="Arial" pitchFamily="34" charset="0"/>
                <a:ea typeface="Arial" pitchFamily="34" charset="-122"/>
                <a:cs typeface="Arial" pitchFamily="34" charset="-120"/>
              </a:rPr>
              <a:t>We're the small ops-tech team inside Blue Horizon's operations control center.</a:t>
            </a:r>
            <a:endParaRPr lang="en-US" sz="1600" dirty="0"/>
          </a:p>
          <a:p>
            <a:pPr marL="342900" indent="-342900">
              <a:spcAft>
                <a:spcPts val="1200"/>
              </a:spcAft>
              <a:buSzPct val="100000"/>
              <a:buChar char="•"/>
            </a:pPr>
            <a:r>
              <a:rPr lang="en-US" sz="1600" dirty="0">
                <a:solidFill>
                  <a:srgbClr val="1A1A1A"/>
                </a:solidFill>
                <a:latin typeface="Arial" pitchFamily="34" charset="0"/>
                <a:ea typeface="Arial" pitchFamily="34" charset="-122"/>
                <a:cs typeface="Arial" pitchFamily="34" charset="-120"/>
              </a:rPr>
              <a:t>When a flight goes IROPS — mechanical, weather, crew shortage — a front-desk ops agent has minutes to check the flight, find every affected passenger, rebook them, pull in reserve crew, and issue compensation.</a:t>
            </a:r>
            <a:endParaRPr lang="en-US" sz="1600" dirty="0"/>
          </a:p>
          <a:p>
            <a:pPr marL="342900" indent="-342900">
              <a:spcAft>
                <a:spcPts val="1200"/>
              </a:spcAft>
              <a:buSzPct val="100000"/>
              <a:buChar char="•"/>
            </a:pPr>
            <a:r>
              <a:rPr lang="en-US" sz="1600" dirty="0">
                <a:solidFill>
                  <a:srgbClr val="1A1A1A"/>
                </a:solidFill>
                <a:latin typeface="Arial" pitchFamily="34" charset="0"/>
                <a:ea typeface="Arial" pitchFamily="34" charset="-122"/>
                <a:cs typeface="Arial" pitchFamily="34" charset="-120"/>
              </a:rPr>
              <a:t>Today, all of that happens by hand across several disconnected screens.</a:t>
            </a:r>
            <a:endParaRPr lang="en-US" sz="1600" dirty="0"/>
          </a:p>
        </p:txBody>
      </p:sp>
      <p:sp>
        <p:nvSpPr>
          <p:cNvPr id="6" name="Shape 3"/>
          <p:cNvSpPr/>
          <p:nvPr/>
        </p:nvSpPr>
        <p:spPr>
          <a:xfrm>
            <a:off x="548640" y="4160520"/>
            <a:ext cx="11064240" cy="1828800"/>
          </a:xfrm>
          <a:prstGeom prst="roundRect">
            <a:avLst>
              <a:gd name="adj" fmla="val 4000"/>
            </a:avLst>
          </a:prstGeom>
          <a:solidFill>
            <a:srgbClr val="F2F5F7"/>
          </a:solidFill>
          <a:ln/>
        </p:spPr>
      </p:sp>
      <p:pic>
        <p:nvPicPr>
          <p:cNvPr id="7" name="Image 1" descr="icon_alert.png">    </p:cNvPr>
          <p:cNvPicPr>
            <a:picLocks noChangeAspect="1"/>
          </p:cNvPicPr>
          <p:nvPr/>
        </p:nvPicPr>
        <p:blipFill>
          <a:blip r:embed="rId2"/>
          <a:stretch>
            <a:fillRect/>
          </a:stretch>
        </p:blipFill>
        <p:spPr>
          <a:xfrm>
            <a:off x="868680" y="4480560"/>
            <a:ext cx="548640" cy="548640"/>
          </a:xfrm>
          <a:prstGeom prst="rect">
            <a:avLst/>
          </a:prstGeom>
        </p:spPr>
      </p:pic>
      <p:sp>
        <p:nvSpPr>
          <p:cNvPr id="8" name="Text 4"/>
          <p:cNvSpPr/>
          <p:nvPr/>
        </p:nvSpPr>
        <p:spPr>
          <a:xfrm>
            <a:off x="1600200" y="4434840"/>
            <a:ext cx="9692640" cy="365760"/>
          </a:xfrm>
          <a:prstGeom prst="rect">
            <a:avLst/>
          </a:prstGeom>
          <a:noFill/>
          <a:ln/>
        </p:spPr>
        <p:txBody>
          <a:bodyPr wrap="square" rtlCol="0" anchor="ctr"/>
          <a:lstStyle/>
          <a:p>
            <a:pPr indent="0" marL="0">
              <a:buNone/>
            </a:pPr>
            <a:r>
              <a:rPr lang="en-US" sz="1600" b="1" dirty="0">
                <a:solidFill>
                  <a:srgbClr val="D9534F"/>
                </a:solidFill>
                <a:latin typeface="Arial" pitchFamily="34" charset="0"/>
                <a:ea typeface="Arial" pitchFamily="34" charset="-122"/>
                <a:cs typeface="Arial" pitchFamily="34" charset="-120"/>
              </a:rPr>
              <a:t>Why we didn't just “give the model a database connection”</a:t>
            </a:r>
            <a:endParaRPr lang="en-US" sz="1600" dirty="0"/>
          </a:p>
        </p:txBody>
      </p:sp>
      <p:sp>
        <p:nvSpPr>
          <p:cNvPr id="9" name="Text 5"/>
          <p:cNvSpPr/>
          <p:nvPr/>
        </p:nvSpPr>
        <p:spPr>
          <a:xfrm>
            <a:off x="1600200" y="4846320"/>
            <a:ext cx="9692640" cy="1005840"/>
          </a:xfrm>
          <a:prstGeom prst="rect">
            <a:avLst/>
          </a:prstGeom>
          <a:noFill/>
          <a:ln/>
        </p:spPr>
        <p:txBody>
          <a:bodyPr wrap="square" rtlCol="0" anchor="ctr"/>
          <a:lstStyle/>
          <a:p>
            <a:pPr indent="0" marL="0">
              <a:buNone/>
            </a:pPr>
            <a:r>
              <a:rPr lang="en-US" sz="1450" dirty="0">
                <a:solidFill>
                  <a:srgbClr val="5A5A5A"/>
                </a:solidFill>
                <a:latin typeface="Arial" pitchFamily="34" charset="0"/>
                <a:ea typeface="Arial" pitchFamily="34" charset="-122"/>
                <a:cs typeface="Arial" pitchFamily="34" charset="-120"/>
              </a:rPr>
              <a:t>An agent — human or model — with raw SQL access could double-book a passenger, assign a pilot past a legal duty-time limit, or approve an unbounded payout. These aren't UX bugs. They're regulatory and financial exposure.</a:t>
            </a:r>
            <a:endParaRPr lang="en-US" sz="1450" dirty="0"/>
          </a:p>
        </p:txBody>
      </p:sp>
      <p:sp>
        <p:nvSpPr>
          <p:cNvPr id="10" name="Text 6"/>
          <p:cNvSpPr/>
          <p:nvPr/>
        </p:nvSpPr>
        <p:spPr>
          <a:xfrm>
            <a:off x="11612880" y="6446520"/>
            <a:ext cx="457200" cy="320040"/>
          </a:xfrm>
          <a:prstGeom prst="rect">
            <a:avLst/>
          </a:prstGeom>
          <a:noFill/>
          <a:ln/>
        </p:spPr>
        <p:txBody>
          <a:bodyPr wrap="square" rtlCol="0" anchor="ctr"/>
          <a:lstStyle/>
          <a:p>
            <a:pPr algn="r" indent="0" marL="0">
              <a:buNone/>
            </a:pPr>
            <a:r>
              <a:rPr lang="en-US" sz="1100" dirty="0">
                <a:solidFill>
                  <a:srgbClr val="AAAAAA"/>
                </a:solidFill>
                <a:latin typeface="Arial" pitchFamily="34" charset="0"/>
                <a:ea typeface="Arial" pitchFamily="34" charset="-122"/>
                <a:cs typeface="Arial"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indent="0" marL="0">
              <a:buNone/>
            </a:pPr>
            <a:r>
              <a:rPr lang="en-US" sz="1300" b="1" spc="200" kern="0" dirty="0">
                <a:solidFill>
                  <a:srgbClr val="1E8A8A"/>
                </a:solidFill>
                <a:latin typeface="Arial" pitchFamily="34" charset="0"/>
                <a:ea typeface="Arial" pitchFamily="34" charset="-122"/>
                <a:cs typeface="Arial" pitchFamily="34" charset="-120"/>
              </a:rPr>
              <a:t>BUILDING THE SERVER</a:t>
            </a:r>
            <a:endParaRPr lang="en-US" sz="1300" dirty="0"/>
          </a:p>
        </p:txBody>
      </p:sp>
      <p:sp>
        <p:nvSpPr>
          <p:cNvPr id="3" name="Text 1"/>
          <p:cNvSpPr/>
          <p:nvPr/>
        </p:nvSpPr>
        <p:spPr>
          <a:xfrm>
            <a:off x="548640" y="685800"/>
            <a:ext cx="10972800" cy="822960"/>
          </a:xfrm>
          <a:prstGeom prst="rect">
            <a:avLst/>
          </a:prstGeom>
          <a:noFill/>
          <a:ln/>
        </p:spPr>
        <p:txBody>
          <a:bodyPr wrap="square" rtlCol="0" anchor="ctr"/>
          <a:lstStyle/>
          <a:p>
            <a:pPr indent="0" marL="0">
              <a:buNone/>
            </a:pPr>
            <a:r>
              <a:rPr lang="en-US" sz="3000" b="1" dirty="0">
                <a:solidFill>
                  <a:srgbClr val="0B3D5C"/>
                </a:solidFill>
                <a:latin typeface="Arial" pitchFamily="34" charset="0"/>
                <a:ea typeface="Arial" pitchFamily="34" charset="-122"/>
                <a:cs typeface="Arial" pitchFamily="34" charset="-120"/>
              </a:rPr>
              <a:t>An MCP server in front of the database — not a direct line to it</a:t>
            </a:r>
            <a:endParaRPr lang="en-US" sz="3000" dirty="0"/>
          </a:p>
        </p:txBody>
      </p:sp>
      <p:sp>
        <p:nvSpPr>
          <p:cNvPr id="4" name="Shape 2"/>
          <p:cNvSpPr/>
          <p:nvPr/>
        </p:nvSpPr>
        <p:spPr>
          <a:xfrm>
            <a:off x="640080" y="2103120"/>
            <a:ext cx="2834640" cy="1371600"/>
          </a:xfrm>
          <a:prstGeom prst="roundRect">
            <a:avLst>
              <a:gd name="adj" fmla="val 6667"/>
            </a:avLst>
          </a:prstGeom>
          <a:solidFill>
            <a:srgbClr val="0B3D5C"/>
          </a:solidFill>
          <a:ln/>
        </p:spPr>
      </p:sp>
      <p:sp>
        <p:nvSpPr>
          <p:cNvPr id="5" name="Text 3"/>
          <p:cNvSpPr/>
          <p:nvPr/>
        </p:nvSpPr>
        <p:spPr>
          <a:xfrm>
            <a:off x="640080" y="2359152"/>
            <a:ext cx="283464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LLM / Agent</a:t>
            </a:r>
            <a:endParaRPr lang="en-US" sz="1600" dirty="0"/>
          </a:p>
        </p:txBody>
      </p:sp>
      <p:sp>
        <p:nvSpPr>
          <p:cNvPr id="6" name="Text 4"/>
          <p:cNvSpPr/>
          <p:nvPr/>
        </p:nvSpPr>
        <p:spPr>
          <a:xfrm>
            <a:off x="777240" y="2880360"/>
            <a:ext cx="2560320" cy="457200"/>
          </a:xfrm>
          <a:prstGeom prst="rect">
            <a:avLst/>
          </a:prstGeom>
          <a:noFill/>
          <a:ln/>
        </p:spPr>
        <p:txBody>
          <a:bodyPr wrap="square" rtlCol="0" anchor="ctr"/>
          <a:lstStyle/>
          <a:p>
            <a:pPr algn="ctr" indent="0" marL="0">
              <a:buNone/>
            </a:pPr>
            <a:r>
              <a:rPr lang="en-US" sz="1150" dirty="0">
                <a:solidFill>
                  <a:srgbClr val="E6F2F2"/>
                </a:solidFill>
                <a:latin typeface="Arial" pitchFamily="34" charset="0"/>
                <a:ea typeface="Arial" pitchFamily="34" charset="-122"/>
                <a:cs typeface="Arial" pitchFamily="34" charset="-120"/>
              </a:rPr>
              <a:t>ops agent's client</a:t>
            </a:r>
            <a:endParaRPr lang="en-US" sz="1150" dirty="0"/>
          </a:p>
        </p:txBody>
      </p:sp>
      <p:sp>
        <p:nvSpPr>
          <p:cNvPr id="7" name="Shape 5"/>
          <p:cNvSpPr/>
          <p:nvPr/>
        </p:nvSpPr>
        <p:spPr>
          <a:xfrm>
            <a:off x="4206240" y="2103120"/>
            <a:ext cx="3749040" cy="1371600"/>
          </a:xfrm>
          <a:prstGeom prst="roundRect">
            <a:avLst>
              <a:gd name="adj" fmla="val 6667"/>
            </a:avLst>
          </a:prstGeom>
          <a:solidFill>
            <a:srgbClr val="1E8A8A"/>
          </a:solidFill>
          <a:ln/>
        </p:spPr>
      </p:sp>
      <p:sp>
        <p:nvSpPr>
          <p:cNvPr id="8" name="Text 6"/>
          <p:cNvSpPr/>
          <p:nvPr/>
        </p:nvSpPr>
        <p:spPr>
          <a:xfrm>
            <a:off x="4206240" y="2359152"/>
            <a:ext cx="374904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MCP Server</a:t>
            </a:r>
            <a:endParaRPr lang="en-US" sz="1600" dirty="0"/>
          </a:p>
        </p:txBody>
      </p:sp>
      <p:sp>
        <p:nvSpPr>
          <p:cNvPr id="9" name="Text 7"/>
          <p:cNvSpPr/>
          <p:nvPr/>
        </p:nvSpPr>
        <p:spPr>
          <a:xfrm>
            <a:off x="4343400" y="2880360"/>
            <a:ext cx="3474720" cy="457200"/>
          </a:xfrm>
          <a:prstGeom prst="rect">
            <a:avLst/>
          </a:prstGeom>
          <a:noFill/>
          <a:ln/>
        </p:spPr>
        <p:txBody>
          <a:bodyPr wrap="square" rtlCol="0" anchor="ctr"/>
          <a:lstStyle/>
          <a:p>
            <a:pPr algn="ctr" indent="0" marL="0">
              <a:buNone/>
            </a:pPr>
            <a:r>
              <a:rPr lang="en-US" sz="1150" dirty="0">
                <a:solidFill>
                  <a:srgbClr val="E6F2F2"/>
                </a:solidFill>
                <a:latin typeface="Arial" pitchFamily="34" charset="0"/>
                <a:ea typeface="Arial" pitchFamily="34" charset="-122"/>
                <a:cs typeface="Arial" pitchFamily="34" charset="-120"/>
              </a:rPr>
              <a:t>validates, gates, elicits</a:t>
            </a:r>
            <a:endParaRPr lang="en-US" sz="1150" dirty="0"/>
          </a:p>
        </p:txBody>
      </p:sp>
      <p:sp>
        <p:nvSpPr>
          <p:cNvPr id="10" name="Shape 8"/>
          <p:cNvSpPr/>
          <p:nvPr/>
        </p:nvSpPr>
        <p:spPr>
          <a:xfrm>
            <a:off x="8686800" y="2103120"/>
            <a:ext cx="2880360" cy="1371600"/>
          </a:xfrm>
          <a:prstGeom prst="roundRect">
            <a:avLst>
              <a:gd name="adj" fmla="val 6667"/>
            </a:avLst>
          </a:prstGeom>
          <a:solidFill>
            <a:srgbClr val="0B3D5C"/>
          </a:solidFill>
          <a:ln/>
        </p:spPr>
      </p:sp>
      <p:sp>
        <p:nvSpPr>
          <p:cNvPr id="11" name="Text 9"/>
          <p:cNvSpPr/>
          <p:nvPr/>
        </p:nvSpPr>
        <p:spPr>
          <a:xfrm>
            <a:off x="8686800" y="2359152"/>
            <a:ext cx="288036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MySQL Database</a:t>
            </a:r>
            <a:endParaRPr lang="en-US" sz="1600" dirty="0"/>
          </a:p>
        </p:txBody>
      </p:sp>
      <p:sp>
        <p:nvSpPr>
          <p:cNvPr id="12" name="Text 10"/>
          <p:cNvSpPr/>
          <p:nvPr/>
        </p:nvSpPr>
        <p:spPr>
          <a:xfrm>
            <a:off x="8823960" y="2880360"/>
            <a:ext cx="2606040" cy="457200"/>
          </a:xfrm>
          <a:prstGeom prst="rect">
            <a:avLst/>
          </a:prstGeom>
          <a:noFill/>
          <a:ln/>
        </p:spPr>
        <p:txBody>
          <a:bodyPr wrap="square" rtlCol="0" anchor="ctr"/>
          <a:lstStyle/>
          <a:p>
            <a:pPr algn="ctr" indent="0" marL="0">
              <a:buNone/>
            </a:pPr>
            <a:r>
              <a:rPr lang="en-US" sz="1150" dirty="0">
                <a:solidFill>
                  <a:srgbClr val="E6F2F2"/>
                </a:solidFill>
                <a:latin typeface="Arial" pitchFamily="34" charset="0"/>
                <a:ea typeface="Arial" pitchFamily="34" charset="-122"/>
                <a:cs typeface="Arial" pitchFamily="34" charset="-120"/>
              </a:rPr>
              <a:t>flights · bookings · crew · compensation</a:t>
            </a:r>
            <a:endParaRPr lang="en-US" sz="1150" dirty="0"/>
          </a:p>
        </p:txBody>
      </p:sp>
      <p:sp>
        <p:nvSpPr>
          <p:cNvPr id="13" name="Text 11"/>
          <p:cNvSpPr/>
          <p:nvPr/>
        </p:nvSpPr>
        <p:spPr>
          <a:xfrm>
            <a:off x="3429000" y="2423160"/>
            <a:ext cx="822960" cy="731520"/>
          </a:xfrm>
          <a:prstGeom prst="rect">
            <a:avLst/>
          </a:prstGeom>
          <a:noFill/>
          <a:ln/>
        </p:spPr>
        <p:txBody>
          <a:bodyPr wrap="square" rtlCol="0" anchor="ctr"/>
          <a:lstStyle/>
          <a:p>
            <a:pPr algn="ctr" indent="0" marL="0">
              <a:buNone/>
            </a:pPr>
            <a:r>
              <a:rPr lang="en-US" sz="2600" dirty="0">
                <a:solidFill>
                  <a:srgbClr val="5A5A5A"/>
                </a:solidFill>
                <a:latin typeface="Arial" pitchFamily="34" charset="0"/>
                <a:ea typeface="Arial" pitchFamily="34" charset="-122"/>
                <a:cs typeface="Arial" pitchFamily="34" charset="-120"/>
              </a:rPr>
              <a:t>↔</a:t>
            </a:r>
            <a:endParaRPr lang="en-US" sz="2600" dirty="0"/>
          </a:p>
        </p:txBody>
      </p:sp>
      <p:sp>
        <p:nvSpPr>
          <p:cNvPr id="14" name="Text 12"/>
          <p:cNvSpPr/>
          <p:nvPr/>
        </p:nvSpPr>
        <p:spPr>
          <a:xfrm>
            <a:off x="7909560" y="2423160"/>
            <a:ext cx="822960" cy="731520"/>
          </a:xfrm>
          <a:prstGeom prst="rect">
            <a:avLst/>
          </a:prstGeom>
          <a:noFill/>
          <a:ln/>
        </p:spPr>
        <p:txBody>
          <a:bodyPr wrap="square" rtlCol="0" anchor="ctr"/>
          <a:lstStyle/>
          <a:p>
            <a:pPr algn="ctr" indent="0" marL="0">
              <a:buNone/>
            </a:pPr>
            <a:r>
              <a:rPr lang="en-US" sz="2600" dirty="0">
                <a:solidFill>
                  <a:srgbClr val="5A5A5A"/>
                </a:solidFill>
                <a:latin typeface="Arial" pitchFamily="34" charset="0"/>
                <a:ea typeface="Arial" pitchFamily="34" charset="-122"/>
                <a:cs typeface="Arial" pitchFamily="34" charset="-120"/>
              </a:rPr>
              <a:t>↔</a:t>
            </a:r>
            <a:endParaRPr lang="en-US" sz="2600" dirty="0"/>
          </a:p>
        </p:txBody>
      </p:sp>
      <p:sp>
        <p:nvSpPr>
          <p:cNvPr id="15" name="Text 13"/>
          <p:cNvSpPr/>
          <p:nvPr/>
        </p:nvSpPr>
        <p:spPr>
          <a:xfrm>
            <a:off x="640080" y="3794760"/>
            <a:ext cx="10881360" cy="457200"/>
          </a:xfrm>
          <a:prstGeom prst="rect">
            <a:avLst/>
          </a:prstGeom>
          <a:noFill/>
          <a:ln/>
        </p:spPr>
        <p:txBody>
          <a:bodyPr wrap="square" rtlCol="0" anchor="ctr"/>
          <a:lstStyle/>
          <a:p>
            <a:pPr indent="0" marL="0">
              <a:buNone/>
            </a:pPr>
            <a:r>
              <a:rPr lang="en-US" sz="1450" i="1" dirty="0">
                <a:solidFill>
                  <a:srgbClr val="5A5A5A"/>
                </a:solidFill>
                <a:latin typeface="Arial" pitchFamily="34" charset="0"/>
                <a:ea typeface="Arial" pitchFamily="34" charset="-122"/>
                <a:cs typeface="Arial" pitchFamily="34" charset="-120"/>
              </a:rPr>
              <a:t>The model never touches SQL. Every read and every write goes through a typed, validated tool.</a:t>
            </a:r>
            <a:endParaRPr lang="en-US" sz="1450" dirty="0"/>
          </a:p>
        </p:txBody>
      </p:sp>
      <p:sp>
        <p:nvSpPr>
          <p:cNvPr id="16" name="Text 14"/>
          <p:cNvSpPr/>
          <p:nvPr/>
        </p:nvSpPr>
        <p:spPr>
          <a:xfrm>
            <a:off x="640080" y="4434840"/>
            <a:ext cx="5486400" cy="365760"/>
          </a:xfrm>
          <a:prstGeom prst="rect">
            <a:avLst/>
          </a:prstGeom>
          <a:noFill/>
          <a:ln/>
        </p:spPr>
        <p:txBody>
          <a:bodyPr wrap="square" rtlCol="0" anchor="ctr"/>
          <a:lstStyle/>
          <a:p>
            <a:pPr indent="0" marL="0">
              <a:buNone/>
            </a:pPr>
            <a:r>
              <a:rPr lang="en-US" sz="1500" b="1" dirty="0">
                <a:solidFill>
                  <a:srgbClr val="0B3D5C"/>
                </a:solidFill>
                <a:latin typeface="Arial" pitchFamily="34" charset="0"/>
                <a:ea typeface="Arial" pitchFamily="34" charset="-122"/>
                <a:cs typeface="Arial" pitchFamily="34" charset="-120"/>
              </a:rPr>
              <a:t>How we scoped the tools:</a:t>
            </a:r>
            <a:endParaRPr lang="en-US" sz="1500" dirty="0"/>
          </a:p>
        </p:txBody>
      </p:sp>
      <p:sp>
        <p:nvSpPr>
          <p:cNvPr id="17" name="Text 15"/>
          <p:cNvSpPr/>
          <p:nvPr/>
        </p:nvSpPr>
        <p:spPr>
          <a:xfrm>
            <a:off x="822960" y="4846320"/>
            <a:ext cx="10515600" cy="1554480"/>
          </a:xfrm>
          <a:prstGeom prst="rect">
            <a:avLst/>
          </a:prstGeom>
          <a:noFill/>
          <a:ln/>
        </p:spPr>
        <p:txBody>
          <a:bodyPr wrap="square" rtlCol="0" anchor="ctr"/>
          <a:lstStyle/>
          <a:p>
            <a:pPr marL="342900" indent="-342900">
              <a:spcAft>
                <a:spcPts val="600"/>
              </a:spcAft>
              <a:buSzPct val="100000"/>
              <a:buChar char="•"/>
            </a:pPr>
            <a:r>
              <a:rPr lang="en-US" sz="1350" dirty="0">
                <a:solidFill>
                  <a:srgbClr val="1A1A1A"/>
                </a:solidFill>
                <a:latin typeface="Arial" pitchFamily="34" charset="0"/>
                <a:ea typeface="Arial" pitchFamily="34" charset="-122"/>
                <a:cs typeface="Arial" pitchFamily="34" charset="-120"/>
              </a:rPr>
              <a:t>Read-only: get_flight_status, get_passenger_booking</a:t>
            </a:r>
            <a:endParaRPr lang="en-US" sz="1350" dirty="0"/>
          </a:p>
          <a:p>
            <a:pPr marL="342900" indent="-342900">
              <a:spcAft>
                <a:spcPts val="600"/>
              </a:spcAft>
              <a:buSzPct val="100000"/>
              <a:buChar char="•"/>
            </a:pPr>
            <a:r>
              <a:rPr lang="en-US" sz="1350" dirty="0">
                <a:solidFill>
                  <a:srgbClr val="1A1A1A"/>
                </a:solidFill>
                <a:latin typeface="Arial" pitchFamily="34" charset="0"/>
                <a:ea typeface="Arial" pitchFamily="34" charset="-122"/>
                <a:cs typeface="Arial" pitchFamily="34" charset="-120"/>
              </a:rPr>
              <a:t>Deterministic write: rebook_passenger, rebook_all_passengers_on_flight</a:t>
            </a:r>
            <a:endParaRPr lang="en-US" sz="1350" dirty="0"/>
          </a:p>
          <a:p>
            <a:pPr marL="342900" indent="-342900">
              <a:spcAft>
                <a:spcPts val="600"/>
              </a:spcAft>
              <a:buSzPct val="100000"/>
              <a:buChar char="•"/>
            </a:pPr>
            <a:r>
              <a:rPr lang="en-US" sz="1350" dirty="0">
                <a:solidFill>
                  <a:srgbClr val="1A1A1A"/>
                </a:solidFill>
                <a:latin typeface="Arial" pitchFamily="34" charset="0"/>
                <a:ea typeface="Arial" pitchFamily="34" charset="-122"/>
                <a:cs typeface="Arial" pitchFamily="34" charset="-120"/>
              </a:rPr>
              <a:t>Human-gated write: assign_reserve_crew, issue_compensation</a:t>
            </a:r>
            <a:endParaRPr lang="en-US" sz="1350" dirty="0"/>
          </a:p>
          <a:p>
            <a:pPr marL="342900" indent="-342900">
              <a:spcAft>
                <a:spcPts val="600"/>
              </a:spcAft>
              <a:buSzPct val="100000"/>
              <a:buChar char="•"/>
            </a:pPr>
            <a:r>
              <a:rPr lang="en-US" sz="1350" dirty="0">
                <a:solidFill>
                  <a:srgbClr val="1A1A1A"/>
                </a:solidFill>
                <a:latin typeface="Arial" pitchFamily="34" charset="0"/>
                <a:ea typeface="Arial" pitchFamily="34" charset="-122"/>
                <a:cs typeface="Arial" pitchFamily="34" charset="-120"/>
              </a:rPr>
              <a:t>Session gate: authenticate_supervisor</a:t>
            </a:r>
            <a:endParaRPr lang="en-US" sz="1350" dirty="0"/>
          </a:p>
        </p:txBody>
      </p:sp>
      <p:sp>
        <p:nvSpPr>
          <p:cNvPr id="18" name="Text 16"/>
          <p:cNvSpPr/>
          <p:nvPr/>
        </p:nvSpPr>
        <p:spPr>
          <a:xfrm>
            <a:off x="11612880" y="6446520"/>
            <a:ext cx="457200" cy="320040"/>
          </a:xfrm>
          <a:prstGeom prst="rect">
            <a:avLst/>
          </a:prstGeom>
          <a:noFill/>
          <a:ln/>
        </p:spPr>
        <p:txBody>
          <a:bodyPr wrap="square" rtlCol="0" anchor="ctr"/>
          <a:lstStyle/>
          <a:p>
            <a:pPr algn="r" indent="0" marL="0">
              <a:buNone/>
            </a:pPr>
            <a:r>
              <a:rPr lang="en-US" sz="1100" dirty="0">
                <a:solidFill>
                  <a:srgbClr val="AAAAAA"/>
                </a:solidFill>
                <a:latin typeface="Arial" pitchFamily="34" charset="0"/>
                <a:ea typeface="Arial" pitchFamily="34" charset="-122"/>
                <a:cs typeface="Arial"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indent="0" marL="0">
              <a:buNone/>
            </a:pPr>
            <a:r>
              <a:rPr lang="en-US" sz="1300" b="1" spc="200" kern="0" dirty="0">
                <a:solidFill>
                  <a:srgbClr val="1E8A8A"/>
                </a:solidFill>
                <a:latin typeface="Arial" pitchFamily="34" charset="0"/>
                <a:ea typeface="Arial" pitchFamily="34" charset="-122"/>
                <a:cs typeface="Arial" pitchFamily="34" charset="-120"/>
              </a:rPr>
              <a:t>A DECISION WE'RE GLAD WE MADE</a:t>
            </a:r>
            <a:endParaRPr lang="en-US" sz="1300" dirty="0"/>
          </a:p>
        </p:txBody>
      </p:sp>
      <p:sp>
        <p:nvSpPr>
          <p:cNvPr id="3" name="Text 1"/>
          <p:cNvSpPr/>
          <p:nvPr/>
        </p:nvSpPr>
        <p:spPr>
          <a:xfrm>
            <a:off x="548640" y="685800"/>
            <a:ext cx="10972800" cy="822960"/>
          </a:xfrm>
          <a:prstGeom prst="rect">
            <a:avLst/>
          </a:prstGeom>
          <a:noFill/>
          <a:ln/>
        </p:spPr>
        <p:txBody>
          <a:bodyPr wrap="square" rtlCol="0" anchor="ctr"/>
          <a:lstStyle/>
          <a:p>
            <a:pPr indent="0" marL="0">
              <a:buNone/>
            </a:pPr>
            <a:r>
              <a:rPr lang="en-US" sz="3000" b="1" dirty="0">
                <a:solidFill>
                  <a:srgbClr val="0B3D5C"/>
                </a:solidFill>
                <a:latin typeface="Arial" pitchFamily="34" charset="0"/>
                <a:ea typeface="Arial" pitchFamily="34" charset="-122"/>
                <a:cs typeface="Arial" pitchFamily="34" charset="-120"/>
              </a:rPr>
              <a:t>Defensive tool design: validate in the handler, not just the schema</a:t>
            </a:r>
            <a:endParaRPr lang="en-US" sz="3000" dirty="0"/>
          </a:p>
        </p:txBody>
      </p:sp>
      <p:sp>
        <p:nvSpPr>
          <p:cNvPr id="4" name="Text 2"/>
          <p:cNvSpPr/>
          <p:nvPr/>
        </p:nvSpPr>
        <p:spPr>
          <a:xfrm>
            <a:off x="640080" y="1737360"/>
            <a:ext cx="10881360" cy="548640"/>
          </a:xfrm>
          <a:prstGeom prst="rect">
            <a:avLst/>
          </a:prstGeom>
          <a:noFill/>
          <a:ln/>
        </p:spPr>
        <p:txBody>
          <a:bodyPr wrap="square" rtlCol="0" anchor="ctr"/>
          <a:lstStyle/>
          <a:p>
            <a:pPr indent="0" marL="0">
              <a:buNone/>
            </a:pPr>
            <a:r>
              <a:rPr lang="en-US" sz="1500" i="1" dirty="0">
                <a:solidFill>
                  <a:srgbClr val="5A5A5A"/>
                </a:solidFill>
                <a:latin typeface="Arial" pitchFamily="34" charset="0"/>
                <a:ea typeface="Arial" pitchFamily="34" charset="-122"/>
                <a:cs typeface="Arial" pitchFamily="34" charset="-120"/>
              </a:rPr>
              <a:t>The schema only checks shape. It doesn't stop a negative crew ID, a duplicate payout, or an unauthenticated caller.</a:t>
            </a:r>
            <a:endParaRPr lang="en-US" sz="1500" dirty="0"/>
          </a:p>
        </p:txBody>
      </p:sp>
      <p:sp>
        <p:nvSpPr>
          <p:cNvPr id="5" name="Shape 3"/>
          <p:cNvSpPr/>
          <p:nvPr/>
        </p:nvSpPr>
        <p:spPr>
          <a:xfrm>
            <a:off x="640080" y="2514600"/>
            <a:ext cx="3474720" cy="3017520"/>
          </a:xfrm>
          <a:prstGeom prst="roundRect">
            <a:avLst>
              <a:gd name="adj" fmla="val 2424"/>
            </a:avLst>
          </a:prstGeom>
          <a:solidFill>
            <a:srgbClr val="F2F5F7"/>
          </a:solidFill>
          <a:ln/>
        </p:spPr>
      </p:sp>
      <p:sp>
        <p:nvSpPr>
          <p:cNvPr id="6" name="Shape 4"/>
          <p:cNvSpPr/>
          <p:nvPr/>
        </p:nvSpPr>
        <p:spPr>
          <a:xfrm>
            <a:off x="868680" y="2743200"/>
            <a:ext cx="502920" cy="502920"/>
          </a:xfrm>
          <a:prstGeom prst="roundRect">
            <a:avLst>
              <a:gd name="adj" fmla="val 49091"/>
            </a:avLst>
          </a:prstGeom>
          <a:solidFill>
            <a:srgbClr val="1E8A8A"/>
          </a:solidFill>
          <a:ln/>
        </p:spPr>
      </p:sp>
      <p:sp>
        <p:nvSpPr>
          <p:cNvPr id="7" name="Text 5"/>
          <p:cNvSpPr/>
          <p:nvPr/>
        </p:nvSpPr>
        <p:spPr>
          <a:xfrm>
            <a:off x="868680" y="2743200"/>
            <a:ext cx="502920" cy="50292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8" name="Text 6"/>
          <p:cNvSpPr/>
          <p:nvPr/>
        </p:nvSpPr>
        <p:spPr>
          <a:xfrm>
            <a:off x="868680" y="3337560"/>
            <a:ext cx="3017520" cy="411480"/>
          </a:xfrm>
          <a:prstGeom prst="rect">
            <a:avLst/>
          </a:prstGeom>
          <a:noFill/>
          <a:ln/>
        </p:spPr>
        <p:txBody>
          <a:bodyPr wrap="square" rtlCol="0" anchor="ctr"/>
          <a:lstStyle/>
          <a:p>
            <a:pPr indent="0" marL="0">
              <a:buNone/>
            </a:pPr>
            <a:r>
              <a:rPr lang="en-US" sz="1500" b="1" dirty="0">
                <a:solidFill>
                  <a:srgbClr val="0B3D5C"/>
                </a:solidFill>
                <a:latin typeface="Arial" pitchFamily="34" charset="0"/>
                <a:ea typeface="Arial" pitchFamily="34" charset="-122"/>
                <a:cs typeface="Arial" pitchFamily="34" charset="-120"/>
              </a:rPr>
              <a:t>1. Schema</a:t>
            </a:r>
            <a:endParaRPr lang="en-US" sz="1500" dirty="0"/>
          </a:p>
        </p:txBody>
      </p:sp>
      <p:sp>
        <p:nvSpPr>
          <p:cNvPr id="9" name="Text 7"/>
          <p:cNvSpPr/>
          <p:nvPr/>
        </p:nvSpPr>
        <p:spPr>
          <a:xfrm>
            <a:off x="868680" y="3749040"/>
            <a:ext cx="3017520" cy="1600200"/>
          </a:xfrm>
          <a:prstGeom prst="rect">
            <a:avLst/>
          </a:prstGeom>
          <a:noFill/>
          <a:ln/>
        </p:spPr>
        <p:txBody>
          <a:bodyPr wrap="square" rtlCol="0" anchor="ctr"/>
          <a:lstStyle/>
          <a:p>
            <a:pPr indent="0" marL="0">
              <a:buNone/>
            </a:pPr>
            <a:r>
              <a:rPr lang="en-US" sz="1250" dirty="0">
                <a:solidFill>
                  <a:srgbClr val="1A1A1A"/>
                </a:solidFill>
                <a:latin typeface="Arial" pitchFamily="34" charset="0"/>
                <a:ea typeface="Arial" pitchFamily="34" charset="-122"/>
                <a:cs typeface="Arial" pitchFamily="34" charset="-120"/>
              </a:rPr>
              <a:t>Typed fields, required, additionalProperties: false — shape only.</a:t>
            </a:r>
            <a:endParaRPr lang="en-US" sz="1250" dirty="0"/>
          </a:p>
        </p:txBody>
      </p:sp>
      <p:sp>
        <p:nvSpPr>
          <p:cNvPr id="10" name="Shape 8"/>
          <p:cNvSpPr/>
          <p:nvPr/>
        </p:nvSpPr>
        <p:spPr>
          <a:xfrm>
            <a:off x="4343400" y="2514600"/>
            <a:ext cx="3474720" cy="3017520"/>
          </a:xfrm>
          <a:prstGeom prst="roundRect">
            <a:avLst>
              <a:gd name="adj" fmla="val 2424"/>
            </a:avLst>
          </a:prstGeom>
          <a:solidFill>
            <a:srgbClr val="F2F5F7"/>
          </a:solidFill>
          <a:ln/>
        </p:spPr>
      </p:sp>
      <p:sp>
        <p:nvSpPr>
          <p:cNvPr id="11" name="Shape 9"/>
          <p:cNvSpPr/>
          <p:nvPr/>
        </p:nvSpPr>
        <p:spPr>
          <a:xfrm>
            <a:off x="4572000" y="2743200"/>
            <a:ext cx="502920" cy="502920"/>
          </a:xfrm>
          <a:prstGeom prst="roundRect">
            <a:avLst>
              <a:gd name="adj" fmla="val 49091"/>
            </a:avLst>
          </a:prstGeom>
          <a:solidFill>
            <a:srgbClr val="1E8A8A"/>
          </a:solidFill>
          <a:ln/>
        </p:spPr>
      </p:sp>
      <p:sp>
        <p:nvSpPr>
          <p:cNvPr id="12" name="Text 10"/>
          <p:cNvSpPr/>
          <p:nvPr/>
        </p:nvSpPr>
        <p:spPr>
          <a:xfrm>
            <a:off x="4572000" y="2743200"/>
            <a:ext cx="502920" cy="50292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1"/>
          <p:cNvSpPr/>
          <p:nvPr/>
        </p:nvSpPr>
        <p:spPr>
          <a:xfrm>
            <a:off x="4572000" y="3337560"/>
            <a:ext cx="3017520" cy="411480"/>
          </a:xfrm>
          <a:prstGeom prst="rect">
            <a:avLst/>
          </a:prstGeom>
          <a:noFill/>
          <a:ln/>
        </p:spPr>
        <p:txBody>
          <a:bodyPr wrap="square" rtlCol="0" anchor="ctr"/>
          <a:lstStyle/>
          <a:p>
            <a:pPr indent="0" marL="0">
              <a:buNone/>
            </a:pPr>
            <a:r>
              <a:rPr lang="en-US" sz="1500" b="1" dirty="0">
                <a:solidFill>
                  <a:srgbClr val="0B3D5C"/>
                </a:solidFill>
                <a:latin typeface="Arial" pitchFamily="34" charset="0"/>
                <a:ea typeface="Arial" pitchFamily="34" charset="-122"/>
                <a:cs typeface="Arial" pitchFamily="34" charset="-120"/>
              </a:rPr>
              <a:t>2. Business validation</a:t>
            </a:r>
            <a:endParaRPr lang="en-US" sz="1500" dirty="0"/>
          </a:p>
        </p:txBody>
      </p:sp>
      <p:sp>
        <p:nvSpPr>
          <p:cNvPr id="14" name="Text 12"/>
          <p:cNvSpPr/>
          <p:nvPr/>
        </p:nvSpPr>
        <p:spPr>
          <a:xfrm>
            <a:off x="4572000" y="3749040"/>
            <a:ext cx="3017520" cy="1600200"/>
          </a:xfrm>
          <a:prstGeom prst="rect">
            <a:avLst/>
          </a:prstGeom>
          <a:noFill/>
          <a:ln/>
        </p:spPr>
        <p:txBody>
          <a:bodyPr wrap="square" rtlCol="0" anchor="ctr"/>
          <a:lstStyle/>
          <a:p>
            <a:pPr indent="0" marL="0">
              <a:buNone/>
            </a:pPr>
            <a:r>
              <a:rPr lang="en-US" sz="1250" dirty="0">
                <a:solidFill>
                  <a:srgbClr val="1A1A1A"/>
                </a:solidFill>
                <a:latin typeface="Arial" pitchFamily="34" charset="0"/>
                <a:ea typeface="Arial" pitchFamily="34" charset="-122"/>
                <a:cs typeface="Arial" pitchFamily="34" charset="-120"/>
              </a:rPr>
              <a:t>Duty hours, duplicate compensation, double-booking — checked against real data, independent of the schema.</a:t>
            </a:r>
            <a:endParaRPr lang="en-US" sz="1250" dirty="0"/>
          </a:p>
        </p:txBody>
      </p:sp>
      <p:sp>
        <p:nvSpPr>
          <p:cNvPr id="15" name="Shape 13"/>
          <p:cNvSpPr/>
          <p:nvPr/>
        </p:nvSpPr>
        <p:spPr>
          <a:xfrm>
            <a:off x="8046720" y="2514600"/>
            <a:ext cx="3474720" cy="3017520"/>
          </a:xfrm>
          <a:prstGeom prst="roundRect">
            <a:avLst>
              <a:gd name="adj" fmla="val 2424"/>
            </a:avLst>
          </a:prstGeom>
          <a:solidFill>
            <a:srgbClr val="F2F5F7"/>
          </a:solidFill>
          <a:ln/>
        </p:spPr>
      </p:sp>
      <p:sp>
        <p:nvSpPr>
          <p:cNvPr id="16" name="Shape 14"/>
          <p:cNvSpPr/>
          <p:nvPr/>
        </p:nvSpPr>
        <p:spPr>
          <a:xfrm>
            <a:off x="8275320" y="2743200"/>
            <a:ext cx="502920" cy="502920"/>
          </a:xfrm>
          <a:prstGeom prst="roundRect">
            <a:avLst>
              <a:gd name="adj" fmla="val 49091"/>
            </a:avLst>
          </a:prstGeom>
          <a:solidFill>
            <a:srgbClr val="1E8A8A"/>
          </a:solidFill>
          <a:ln/>
        </p:spPr>
      </p:sp>
      <p:sp>
        <p:nvSpPr>
          <p:cNvPr id="17" name="Text 15"/>
          <p:cNvSpPr/>
          <p:nvPr/>
        </p:nvSpPr>
        <p:spPr>
          <a:xfrm>
            <a:off x="8275320" y="2743200"/>
            <a:ext cx="502920" cy="50292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8" name="Text 16"/>
          <p:cNvSpPr/>
          <p:nvPr/>
        </p:nvSpPr>
        <p:spPr>
          <a:xfrm>
            <a:off x="8275320" y="3337560"/>
            <a:ext cx="3017520" cy="411480"/>
          </a:xfrm>
          <a:prstGeom prst="rect">
            <a:avLst/>
          </a:prstGeom>
          <a:noFill/>
          <a:ln/>
        </p:spPr>
        <p:txBody>
          <a:bodyPr wrap="square" rtlCol="0" anchor="ctr"/>
          <a:lstStyle/>
          <a:p>
            <a:pPr indent="0" marL="0">
              <a:buNone/>
            </a:pPr>
            <a:r>
              <a:rPr lang="en-US" sz="1500" b="1" dirty="0">
                <a:solidFill>
                  <a:srgbClr val="0B3D5C"/>
                </a:solidFill>
                <a:latin typeface="Arial" pitchFamily="34" charset="0"/>
                <a:ea typeface="Arial" pitchFamily="34" charset="-122"/>
                <a:cs typeface="Arial" pitchFamily="34" charset="-120"/>
              </a:rPr>
              <a:t>3. Handler authorization</a:t>
            </a:r>
            <a:endParaRPr lang="en-US" sz="1500" dirty="0"/>
          </a:p>
        </p:txBody>
      </p:sp>
      <p:sp>
        <p:nvSpPr>
          <p:cNvPr id="19" name="Text 17"/>
          <p:cNvSpPr/>
          <p:nvPr/>
        </p:nvSpPr>
        <p:spPr>
          <a:xfrm>
            <a:off x="8275320" y="3749040"/>
            <a:ext cx="3017520" cy="1600200"/>
          </a:xfrm>
          <a:prstGeom prst="rect">
            <a:avLst/>
          </a:prstGeom>
          <a:noFill/>
          <a:ln/>
        </p:spPr>
        <p:txBody>
          <a:bodyPr wrap="square" rtlCol="0" anchor="ctr"/>
          <a:lstStyle/>
          <a:p>
            <a:pPr indent="0" marL="0">
              <a:buNone/>
            </a:pPr>
            <a:r>
              <a:rPr lang="en-US" sz="1250" dirty="0">
                <a:solidFill>
                  <a:srgbClr val="1A1A1A"/>
                </a:solidFill>
                <a:latin typeface="Arial" pitchFamily="34" charset="0"/>
                <a:ea typeface="Arial" pitchFamily="34" charset="-122"/>
                <a:cs typeface="Arial" pitchFamily="34" charset="-120"/>
              </a:rPr>
              <a:t>requested_by / issued_by must look like a real ops agent ID (agent_...) before anything is written.</a:t>
            </a:r>
            <a:endParaRPr lang="en-US" sz="1250" dirty="0"/>
          </a:p>
        </p:txBody>
      </p:sp>
      <p:sp>
        <p:nvSpPr>
          <p:cNvPr id="20" name="Text 18"/>
          <p:cNvSpPr/>
          <p:nvPr/>
        </p:nvSpPr>
        <p:spPr>
          <a:xfrm>
            <a:off x="11612880" y="6446520"/>
            <a:ext cx="457200" cy="320040"/>
          </a:xfrm>
          <a:prstGeom prst="rect">
            <a:avLst/>
          </a:prstGeom>
          <a:noFill/>
          <a:ln/>
        </p:spPr>
        <p:txBody>
          <a:bodyPr wrap="square" rtlCol="0" anchor="ctr"/>
          <a:lstStyle/>
          <a:p>
            <a:pPr algn="r" indent="0" marL="0">
              <a:buNone/>
            </a:pPr>
            <a:r>
              <a:rPr lang="en-US" sz="1100" dirty="0">
                <a:solidFill>
                  <a:srgbClr val="AAAAAA"/>
                </a:solidFill>
                <a:latin typeface="Arial" pitchFamily="34" charset="0"/>
                <a:ea typeface="Arial" pitchFamily="34" charset="-122"/>
                <a:cs typeface="Arial"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indent="0" marL="0">
              <a:buNone/>
            </a:pPr>
            <a:r>
              <a:rPr lang="en-US" sz="1300" b="1" spc="200" kern="0" dirty="0">
                <a:solidFill>
                  <a:srgbClr val="1E8A8A"/>
                </a:solidFill>
                <a:latin typeface="Arial" pitchFamily="34" charset="0"/>
                <a:ea typeface="Arial" pitchFamily="34" charset="-122"/>
                <a:cs typeface="Arial" pitchFamily="34" charset="-120"/>
              </a:rPr>
              <a:t>PROTOCOL CONCERN</a:t>
            </a:r>
            <a:endParaRPr lang="en-US" sz="1300" dirty="0"/>
          </a:p>
        </p:txBody>
      </p:sp>
      <p:sp>
        <p:nvSpPr>
          <p:cNvPr id="3" name="Text 1"/>
          <p:cNvSpPr/>
          <p:nvPr/>
        </p:nvSpPr>
        <p:spPr>
          <a:xfrm>
            <a:off x="548640" y="685800"/>
            <a:ext cx="10972800" cy="822960"/>
          </a:xfrm>
          <a:prstGeom prst="rect">
            <a:avLst/>
          </a:prstGeom>
          <a:noFill/>
          <a:ln/>
        </p:spPr>
        <p:txBody>
          <a:bodyPr wrap="square" rtlCol="0" anchor="ctr"/>
          <a:lstStyle/>
          <a:p>
            <a:pPr indent="0" marL="0">
              <a:buNone/>
            </a:pPr>
            <a:r>
              <a:rPr lang="en-US" sz="3000" b="1" dirty="0">
                <a:solidFill>
                  <a:srgbClr val="0B3D5C"/>
                </a:solidFill>
                <a:latin typeface="Arial" pitchFamily="34" charset="0"/>
                <a:ea typeface="Arial" pitchFamily="34" charset="-122"/>
                <a:cs typeface="Arial" pitchFamily="34" charset="-120"/>
              </a:rPr>
              <a:t>Capability Negotiation</a:t>
            </a:r>
            <a:endParaRPr lang="en-US" sz="3000" dirty="0"/>
          </a:p>
        </p:txBody>
      </p:sp>
      <p:pic>
        <p:nvPicPr>
          <p:cNvPr id="4" name="Image 0" descr="icon_sliders.png">    </p:cNvPr>
          <p:cNvPicPr>
            <a:picLocks noChangeAspect="1"/>
          </p:cNvPicPr>
          <p:nvPr/>
        </p:nvPicPr>
        <p:blipFill>
          <a:blip r:embed="rId1"/>
          <a:stretch>
            <a:fillRect/>
          </a:stretch>
        </p:blipFill>
        <p:spPr>
          <a:xfrm>
            <a:off x="10607040" y="502920"/>
            <a:ext cx="1005840" cy="1005840"/>
          </a:xfrm>
          <a:prstGeom prst="rect">
            <a:avLst/>
          </a:prstGeom>
        </p:spPr>
      </p:pic>
      <p:sp>
        <p:nvSpPr>
          <p:cNvPr id="5" name="Shape 2"/>
          <p:cNvSpPr/>
          <p:nvPr/>
        </p:nvSpPr>
        <p:spPr>
          <a:xfrm>
            <a:off x="640080" y="1920240"/>
            <a:ext cx="82296" cy="1051560"/>
          </a:xfrm>
          <a:prstGeom prst="rect">
            <a:avLst/>
          </a:prstGeom>
          <a:solidFill>
            <a:srgbClr val="D9534F"/>
          </a:solidFill>
          <a:ln/>
        </p:spPr>
      </p:sp>
      <p:sp>
        <p:nvSpPr>
          <p:cNvPr id="6" name="Text 3"/>
          <p:cNvSpPr/>
          <p:nvPr/>
        </p:nvSpPr>
        <p:spPr>
          <a:xfrm>
            <a:off x="914400" y="1901952"/>
            <a:ext cx="1828800" cy="365760"/>
          </a:xfrm>
          <a:prstGeom prst="rect">
            <a:avLst/>
          </a:prstGeom>
          <a:noFill/>
          <a:ln/>
        </p:spPr>
        <p:txBody>
          <a:bodyPr wrap="square" rtlCol="0" anchor="ctr"/>
          <a:lstStyle/>
          <a:p>
            <a:pPr indent="0" marL="0">
              <a:buNone/>
            </a:pPr>
            <a:r>
              <a:rPr lang="en-US" sz="1200" b="1" spc="100" kern="0" dirty="0">
                <a:solidFill>
                  <a:srgbClr val="D9534F"/>
                </a:solidFill>
                <a:latin typeface="Arial" pitchFamily="34" charset="0"/>
                <a:ea typeface="Arial" pitchFamily="34" charset="-122"/>
                <a:cs typeface="Arial" pitchFamily="34" charset="-120"/>
              </a:rPr>
              <a:t>TRIGGER</a:t>
            </a:r>
            <a:endParaRPr lang="en-US" sz="1200" dirty="0"/>
          </a:p>
        </p:txBody>
      </p:sp>
      <p:sp>
        <p:nvSpPr>
          <p:cNvPr id="7" name="Text 4"/>
          <p:cNvSpPr/>
          <p:nvPr/>
        </p:nvSpPr>
        <p:spPr>
          <a:xfrm>
            <a:off x="914400" y="22402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A client shouldn't assume every MCP server supports elicitation, sampling, or resources.</a:t>
            </a:r>
            <a:endParaRPr lang="en-US" sz="1450" dirty="0"/>
          </a:p>
        </p:txBody>
      </p:sp>
      <p:sp>
        <p:nvSpPr>
          <p:cNvPr id="8" name="Shape 5"/>
          <p:cNvSpPr/>
          <p:nvPr/>
        </p:nvSpPr>
        <p:spPr>
          <a:xfrm>
            <a:off x="640080" y="3291840"/>
            <a:ext cx="82296" cy="1051560"/>
          </a:xfrm>
          <a:prstGeom prst="rect">
            <a:avLst/>
          </a:prstGeom>
          <a:solidFill>
            <a:srgbClr val="1E8A8A"/>
          </a:solidFill>
          <a:ln/>
        </p:spPr>
      </p:sp>
      <p:sp>
        <p:nvSpPr>
          <p:cNvPr id="9" name="Text 6"/>
          <p:cNvSpPr/>
          <p:nvPr/>
        </p:nvSpPr>
        <p:spPr>
          <a:xfrm>
            <a:off x="914400" y="3273552"/>
            <a:ext cx="1828800" cy="365760"/>
          </a:xfrm>
          <a:prstGeom prst="rect">
            <a:avLst/>
          </a:prstGeom>
          <a:noFill/>
          <a:ln/>
        </p:spPr>
        <p:txBody>
          <a:bodyPr wrap="square" rtlCol="0" anchor="ctr"/>
          <a:lstStyle/>
          <a:p>
            <a:pPr indent="0" marL="0">
              <a:buNone/>
            </a:pPr>
            <a:r>
              <a:rPr lang="en-US" sz="1200" b="1" spc="100" kern="0" dirty="0">
                <a:solidFill>
                  <a:srgbClr val="1E8A8A"/>
                </a:solidFill>
                <a:latin typeface="Arial" pitchFamily="34" charset="0"/>
                <a:ea typeface="Arial" pitchFamily="34" charset="-122"/>
                <a:cs typeface="Arial" pitchFamily="34" charset="-120"/>
              </a:rPr>
              <a:t>MECHANISM</a:t>
            </a:r>
            <a:endParaRPr lang="en-US" sz="1200" dirty="0"/>
          </a:p>
        </p:txBody>
      </p:sp>
      <p:sp>
        <p:nvSpPr>
          <p:cNvPr id="10" name="Text 7"/>
          <p:cNvSpPr/>
          <p:nvPr/>
        </p:nvSpPr>
        <p:spPr>
          <a:xfrm>
            <a:off x="914400" y="36118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server.py declares its real capabilities during initialize (tools, resources, prompts, elicitation, sampling). The client reads init_result.capabilities before relying on any of them.</a:t>
            </a:r>
            <a:endParaRPr lang="en-US" sz="1450" dirty="0"/>
          </a:p>
        </p:txBody>
      </p:sp>
      <p:sp>
        <p:nvSpPr>
          <p:cNvPr id="11" name="Shape 8"/>
          <p:cNvSpPr/>
          <p:nvPr/>
        </p:nvSpPr>
        <p:spPr>
          <a:xfrm>
            <a:off x="640080" y="4663440"/>
            <a:ext cx="82296" cy="1051560"/>
          </a:xfrm>
          <a:prstGeom prst="rect">
            <a:avLst/>
          </a:prstGeom>
          <a:solidFill>
            <a:srgbClr val="0B3D5C"/>
          </a:solidFill>
          <a:ln/>
        </p:spPr>
      </p:sp>
      <p:sp>
        <p:nvSpPr>
          <p:cNvPr id="12" name="Text 9"/>
          <p:cNvSpPr/>
          <p:nvPr/>
        </p:nvSpPr>
        <p:spPr>
          <a:xfrm>
            <a:off x="914400" y="4645152"/>
            <a:ext cx="1828800" cy="365760"/>
          </a:xfrm>
          <a:prstGeom prst="rect">
            <a:avLst/>
          </a:prstGeom>
          <a:noFill/>
          <a:ln/>
        </p:spPr>
        <p:txBody>
          <a:bodyPr wrap="square" rtlCol="0" anchor="ctr"/>
          <a:lstStyle/>
          <a:p>
            <a:pPr indent="0" marL="0">
              <a:buNone/>
            </a:pPr>
            <a:r>
              <a:rPr lang="en-US" sz="1200" b="1" spc="100" kern="0" dirty="0">
                <a:solidFill>
                  <a:srgbClr val="0B3D5C"/>
                </a:solidFill>
                <a:latin typeface="Arial" pitchFamily="34" charset="0"/>
                <a:ea typeface="Arial" pitchFamily="34" charset="-122"/>
                <a:cs typeface="Arial" pitchFamily="34" charset="-120"/>
              </a:rPr>
              <a:t>OUTCOME</a:t>
            </a:r>
            <a:endParaRPr lang="en-US" sz="1200" dirty="0"/>
          </a:p>
        </p:txBody>
      </p:sp>
      <p:sp>
        <p:nvSpPr>
          <p:cNvPr id="13" name="Text 10"/>
          <p:cNvSpPr/>
          <p:nvPr/>
        </p:nvSpPr>
        <p:spPr>
          <a:xfrm>
            <a:off x="914400" y="49834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A front-desk client that can't honor a human-in-the-loop pause never gets offered assign_reserve_crew or issue_compensation in the first place.</a:t>
            </a:r>
            <a:endParaRPr lang="en-US" sz="1450" dirty="0"/>
          </a:p>
        </p:txBody>
      </p:sp>
      <p:sp>
        <p:nvSpPr>
          <p:cNvPr id="14" name="Shape 11"/>
          <p:cNvSpPr/>
          <p:nvPr/>
        </p:nvSpPr>
        <p:spPr>
          <a:xfrm>
            <a:off x="640080" y="5989320"/>
            <a:ext cx="10881360" cy="548640"/>
          </a:xfrm>
          <a:prstGeom prst="roundRect">
            <a:avLst>
              <a:gd name="adj" fmla="val 13333"/>
            </a:avLst>
          </a:prstGeom>
          <a:solidFill>
            <a:srgbClr val="0B3D5C"/>
          </a:solidFill>
          <a:ln/>
        </p:spPr>
      </p:sp>
      <p:sp>
        <p:nvSpPr>
          <p:cNvPr id="15" name="Text 12"/>
          <p:cNvSpPr/>
          <p:nvPr/>
        </p:nvSpPr>
        <p:spPr>
          <a:xfrm>
            <a:off x="868680" y="5989320"/>
            <a:ext cx="1042416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LIVE NOW:  Connecting the client and printing the server's declared capabilities before anything else runs.</a:t>
            </a:r>
            <a:endParaRPr lang="en-US" sz="1300" dirty="0"/>
          </a:p>
        </p:txBody>
      </p:sp>
      <p:sp>
        <p:nvSpPr>
          <p:cNvPr id="16" name="Text 13"/>
          <p:cNvSpPr/>
          <p:nvPr/>
        </p:nvSpPr>
        <p:spPr>
          <a:xfrm>
            <a:off x="11612880" y="6446520"/>
            <a:ext cx="457200" cy="320040"/>
          </a:xfrm>
          <a:prstGeom prst="rect">
            <a:avLst/>
          </a:prstGeom>
          <a:noFill/>
          <a:ln/>
        </p:spPr>
        <p:txBody>
          <a:bodyPr wrap="square" rtlCol="0" anchor="ctr"/>
          <a:lstStyle/>
          <a:p>
            <a:pPr algn="r" indent="0" marL="0">
              <a:buNone/>
            </a:pPr>
            <a:r>
              <a:rPr lang="en-US" sz="1100" dirty="0">
                <a:solidFill>
                  <a:srgbClr val="AAAAAA"/>
                </a:solidFill>
                <a:latin typeface="Arial" pitchFamily="34" charset="0"/>
                <a:ea typeface="Arial" pitchFamily="34" charset="-122"/>
                <a:cs typeface="Arial"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indent="0" marL="0">
              <a:buNone/>
            </a:pPr>
            <a:r>
              <a:rPr lang="en-US" sz="1300" b="1" spc="200" kern="0" dirty="0">
                <a:solidFill>
                  <a:srgbClr val="1E8A8A"/>
                </a:solidFill>
                <a:latin typeface="Arial" pitchFamily="34" charset="0"/>
                <a:ea typeface="Arial" pitchFamily="34" charset="-122"/>
                <a:cs typeface="Arial" pitchFamily="34" charset="-120"/>
              </a:rPr>
              <a:t>PROTOCOL CONCERN</a:t>
            </a:r>
            <a:endParaRPr lang="en-US" sz="1300" dirty="0"/>
          </a:p>
        </p:txBody>
      </p:sp>
      <p:sp>
        <p:nvSpPr>
          <p:cNvPr id="3" name="Text 1"/>
          <p:cNvSpPr/>
          <p:nvPr/>
        </p:nvSpPr>
        <p:spPr>
          <a:xfrm>
            <a:off x="548640" y="685800"/>
            <a:ext cx="10972800" cy="822960"/>
          </a:xfrm>
          <a:prstGeom prst="rect">
            <a:avLst/>
          </a:prstGeom>
          <a:noFill/>
          <a:ln/>
        </p:spPr>
        <p:txBody>
          <a:bodyPr wrap="square" rtlCol="0" anchor="ctr"/>
          <a:lstStyle/>
          <a:p>
            <a:pPr indent="0" marL="0">
              <a:buNone/>
            </a:pPr>
            <a:r>
              <a:rPr lang="en-US" sz="3000" b="1" dirty="0">
                <a:solidFill>
                  <a:srgbClr val="0B3D5C"/>
                </a:solidFill>
                <a:latin typeface="Arial" pitchFamily="34" charset="0"/>
                <a:ea typeface="Arial" pitchFamily="34" charset="-122"/>
                <a:cs typeface="Arial" pitchFamily="34" charset="-120"/>
              </a:rPr>
              <a:t>Notifications</a:t>
            </a:r>
            <a:endParaRPr lang="en-US" sz="3000" dirty="0"/>
          </a:p>
        </p:txBody>
      </p:sp>
      <p:pic>
        <p:nvPicPr>
          <p:cNvPr id="4" name="Image 0" descr="icon_bell.png">    </p:cNvPr>
          <p:cNvPicPr>
            <a:picLocks noChangeAspect="1"/>
          </p:cNvPicPr>
          <p:nvPr/>
        </p:nvPicPr>
        <p:blipFill>
          <a:blip r:embed="rId1"/>
          <a:stretch>
            <a:fillRect/>
          </a:stretch>
        </p:blipFill>
        <p:spPr>
          <a:xfrm>
            <a:off x="10607040" y="502920"/>
            <a:ext cx="1005840" cy="1005840"/>
          </a:xfrm>
          <a:prstGeom prst="rect">
            <a:avLst/>
          </a:prstGeom>
        </p:spPr>
      </p:pic>
      <p:sp>
        <p:nvSpPr>
          <p:cNvPr id="5" name="Shape 2"/>
          <p:cNvSpPr/>
          <p:nvPr/>
        </p:nvSpPr>
        <p:spPr>
          <a:xfrm>
            <a:off x="640080" y="1920240"/>
            <a:ext cx="82296" cy="1051560"/>
          </a:xfrm>
          <a:prstGeom prst="rect">
            <a:avLst/>
          </a:prstGeom>
          <a:solidFill>
            <a:srgbClr val="D9534F"/>
          </a:solidFill>
          <a:ln/>
        </p:spPr>
      </p:sp>
      <p:sp>
        <p:nvSpPr>
          <p:cNvPr id="6" name="Text 3"/>
          <p:cNvSpPr/>
          <p:nvPr/>
        </p:nvSpPr>
        <p:spPr>
          <a:xfrm>
            <a:off x="914400" y="1901952"/>
            <a:ext cx="1828800" cy="365760"/>
          </a:xfrm>
          <a:prstGeom prst="rect">
            <a:avLst/>
          </a:prstGeom>
          <a:noFill/>
          <a:ln/>
        </p:spPr>
        <p:txBody>
          <a:bodyPr wrap="square" rtlCol="0" anchor="ctr"/>
          <a:lstStyle/>
          <a:p>
            <a:pPr indent="0" marL="0">
              <a:buNone/>
            </a:pPr>
            <a:r>
              <a:rPr lang="en-US" sz="1200" b="1" spc="100" kern="0" dirty="0">
                <a:solidFill>
                  <a:srgbClr val="D9534F"/>
                </a:solidFill>
                <a:latin typeface="Arial" pitchFamily="34" charset="0"/>
                <a:ea typeface="Arial" pitchFamily="34" charset="-122"/>
                <a:cs typeface="Arial" pitchFamily="34" charset="-120"/>
              </a:rPr>
              <a:t>TRIGGER</a:t>
            </a:r>
            <a:endParaRPr lang="en-US" sz="1200" dirty="0"/>
          </a:p>
        </p:txBody>
      </p:sp>
      <p:sp>
        <p:nvSpPr>
          <p:cNvPr id="7" name="Text 4"/>
          <p:cNvSpPr/>
          <p:nvPr/>
        </p:nvSpPr>
        <p:spPr>
          <a:xfrm>
            <a:off x="914400" y="22402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A front-desk session must never see assign_reserve_crew or issue_compensation before a real supervisor is authenticated.</a:t>
            </a:r>
            <a:endParaRPr lang="en-US" sz="1450" dirty="0"/>
          </a:p>
        </p:txBody>
      </p:sp>
      <p:sp>
        <p:nvSpPr>
          <p:cNvPr id="8" name="Shape 5"/>
          <p:cNvSpPr/>
          <p:nvPr/>
        </p:nvSpPr>
        <p:spPr>
          <a:xfrm>
            <a:off x="640080" y="3291840"/>
            <a:ext cx="82296" cy="1051560"/>
          </a:xfrm>
          <a:prstGeom prst="rect">
            <a:avLst/>
          </a:prstGeom>
          <a:solidFill>
            <a:srgbClr val="1E8A8A"/>
          </a:solidFill>
          <a:ln/>
        </p:spPr>
      </p:sp>
      <p:sp>
        <p:nvSpPr>
          <p:cNvPr id="9" name="Text 6"/>
          <p:cNvSpPr/>
          <p:nvPr/>
        </p:nvSpPr>
        <p:spPr>
          <a:xfrm>
            <a:off x="914400" y="3273552"/>
            <a:ext cx="1828800" cy="365760"/>
          </a:xfrm>
          <a:prstGeom prst="rect">
            <a:avLst/>
          </a:prstGeom>
          <a:noFill/>
          <a:ln/>
        </p:spPr>
        <p:txBody>
          <a:bodyPr wrap="square" rtlCol="0" anchor="ctr"/>
          <a:lstStyle/>
          <a:p>
            <a:pPr indent="0" marL="0">
              <a:buNone/>
            </a:pPr>
            <a:r>
              <a:rPr lang="en-US" sz="1200" b="1" spc="100" kern="0" dirty="0">
                <a:solidFill>
                  <a:srgbClr val="1E8A8A"/>
                </a:solidFill>
                <a:latin typeface="Arial" pitchFamily="34" charset="0"/>
                <a:ea typeface="Arial" pitchFamily="34" charset="-122"/>
                <a:cs typeface="Arial" pitchFamily="34" charset="-120"/>
              </a:rPr>
              <a:t>MECHANISM</a:t>
            </a:r>
            <a:endParaRPr lang="en-US" sz="1200" dirty="0"/>
          </a:p>
        </p:txBody>
      </p:sp>
      <p:sp>
        <p:nvSpPr>
          <p:cNvPr id="10" name="Text 7"/>
          <p:cNvSpPr/>
          <p:nvPr/>
        </p:nvSpPr>
        <p:spPr>
          <a:xfrm>
            <a:off x="914400" y="36118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authenticate_supervisor validates credentials, calls mcp.add_tool(...) to register the two supervisor tools, then pushes a real notifications/tools/list_changed.</a:t>
            </a:r>
            <a:endParaRPr lang="en-US" sz="1450" dirty="0"/>
          </a:p>
        </p:txBody>
      </p:sp>
      <p:sp>
        <p:nvSpPr>
          <p:cNvPr id="11" name="Shape 8"/>
          <p:cNvSpPr/>
          <p:nvPr/>
        </p:nvSpPr>
        <p:spPr>
          <a:xfrm>
            <a:off x="640080" y="4663440"/>
            <a:ext cx="82296" cy="1051560"/>
          </a:xfrm>
          <a:prstGeom prst="rect">
            <a:avLst/>
          </a:prstGeom>
          <a:solidFill>
            <a:srgbClr val="0B3D5C"/>
          </a:solidFill>
          <a:ln/>
        </p:spPr>
      </p:sp>
      <p:sp>
        <p:nvSpPr>
          <p:cNvPr id="12" name="Text 9"/>
          <p:cNvSpPr/>
          <p:nvPr/>
        </p:nvSpPr>
        <p:spPr>
          <a:xfrm>
            <a:off x="914400" y="4645152"/>
            <a:ext cx="1828800" cy="365760"/>
          </a:xfrm>
          <a:prstGeom prst="rect">
            <a:avLst/>
          </a:prstGeom>
          <a:noFill/>
          <a:ln/>
        </p:spPr>
        <p:txBody>
          <a:bodyPr wrap="square" rtlCol="0" anchor="ctr"/>
          <a:lstStyle/>
          <a:p>
            <a:pPr indent="0" marL="0">
              <a:buNone/>
            </a:pPr>
            <a:r>
              <a:rPr lang="en-US" sz="1200" b="1" spc="100" kern="0" dirty="0">
                <a:solidFill>
                  <a:srgbClr val="0B3D5C"/>
                </a:solidFill>
                <a:latin typeface="Arial" pitchFamily="34" charset="0"/>
                <a:ea typeface="Arial" pitchFamily="34" charset="-122"/>
                <a:cs typeface="Arial" pitchFamily="34" charset="-120"/>
              </a:rPr>
              <a:t>OUTCOME</a:t>
            </a:r>
            <a:endParaRPr lang="en-US" sz="1200" dirty="0"/>
          </a:p>
        </p:txBody>
      </p:sp>
      <p:sp>
        <p:nvSpPr>
          <p:cNvPr id="13" name="Text 10"/>
          <p:cNvSpPr/>
          <p:nvPr/>
        </p:nvSpPr>
        <p:spPr>
          <a:xfrm>
            <a:off x="914400" y="49834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The client reacts to the push immediately — no reconnect, no polling. The tool list changes mid-session because a role genuinely changed.</a:t>
            </a:r>
            <a:endParaRPr lang="en-US" sz="1450" dirty="0"/>
          </a:p>
        </p:txBody>
      </p:sp>
      <p:sp>
        <p:nvSpPr>
          <p:cNvPr id="14" name="Shape 11"/>
          <p:cNvSpPr/>
          <p:nvPr/>
        </p:nvSpPr>
        <p:spPr>
          <a:xfrm>
            <a:off x="640080" y="5989320"/>
            <a:ext cx="10881360" cy="548640"/>
          </a:xfrm>
          <a:prstGeom prst="roundRect">
            <a:avLst>
              <a:gd name="adj" fmla="val 13333"/>
            </a:avLst>
          </a:prstGeom>
          <a:solidFill>
            <a:srgbClr val="0B3D5C"/>
          </a:solidFill>
          <a:ln/>
        </p:spPr>
      </p:sp>
      <p:sp>
        <p:nvSpPr>
          <p:cNvPr id="15" name="Text 12"/>
          <p:cNvSpPr/>
          <p:nvPr/>
        </p:nvSpPr>
        <p:spPr>
          <a:xfrm>
            <a:off x="868680" y="5989320"/>
            <a:ext cx="1042416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LIVE NOW:  Authenticating as sup_001 and watching the notification arrive, then listing tools again to show the two new tools appear.</a:t>
            </a:r>
            <a:endParaRPr lang="en-US" sz="1300" dirty="0"/>
          </a:p>
        </p:txBody>
      </p:sp>
      <p:sp>
        <p:nvSpPr>
          <p:cNvPr id="16" name="Text 13"/>
          <p:cNvSpPr/>
          <p:nvPr/>
        </p:nvSpPr>
        <p:spPr>
          <a:xfrm>
            <a:off x="11612880" y="6446520"/>
            <a:ext cx="457200" cy="320040"/>
          </a:xfrm>
          <a:prstGeom prst="rect">
            <a:avLst/>
          </a:prstGeom>
          <a:noFill/>
          <a:ln/>
        </p:spPr>
        <p:txBody>
          <a:bodyPr wrap="square" rtlCol="0" anchor="ctr"/>
          <a:lstStyle/>
          <a:p>
            <a:pPr algn="r" indent="0" marL="0">
              <a:buNone/>
            </a:pPr>
            <a:r>
              <a:rPr lang="en-US" sz="1100" dirty="0">
                <a:solidFill>
                  <a:srgbClr val="AAAAAA"/>
                </a:solidFill>
                <a:latin typeface="Arial" pitchFamily="34" charset="0"/>
                <a:ea typeface="Arial" pitchFamily="34" charset="-122"/>
                <a:cs typeface="Arial"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indent="0" marL="0">
              <a:buNone/>
            </a:pPr>
            <a:r>
              <a:rPr lang="en-US" sz="1300" b="1" spc="200" kern="0" dirty="0">
                <a:solidFill>
                  <a:srgbClr val="1E8A8A"/>
                </a:solidFill>
                <a:latin typeface="Arial" pitchFamily="34" charset="0"/>
                <a:ea typeface="Arial" pitchFamily="34" charset="-122"/>
                <a:cs typeface="Arial" pitchFamily="34" charset="-120"/>
              </a:rPr>
              <a:t>PROTOCOL CONCERN</a:t>
            </a:r>
            <a:endParaRPr lang="en-US" sz="1300" dirty="0"/>
          </a:p>
        </p:txBody>
      </p:sp>
      <p:sp>
        <p:nvSpPr>
          <p:cNvPr id="3" name="Text 1"/>
          <p:cNvSpPr/>
          <p:nvPr/>
        </p:nvSpPr>
        <p:spPr>
          <a:xfrm>
            <a:off x="548640" y="685800"/>
            <a:ext cx="10972800" cy="822960"/>
          </a:xfrm>
          <a:prstGeom prst="rect">
            <a:avLst/>
          </a:prstGeom>
          <a:noFill/>
          <a:ln/>
        </p:spPr>
        <p:txBody>
          <a:bodyPr wrap="square" rtlCol="0" anchor="ctr"/>
          <a:lstStyle/>
          <a:p>
            <a:pPr indent="0" marL="0">
              <a:buNone/>
            </a:pPr>
            <a:r>
              <a:rPr lang="en-US" sz="3000" b="1" dirty="0">
                <a:solidFill>
                  <a:srgbClr val="0B3D5C"/>
                </a:solidFill>
                <a:latin typeface="Arial" pitchFamily="34" charset="0"/>
                <a:ea typeface="Arial" pitchFamily="34" charset="-122"/>
                <a:cs typeface="Arial" pitchFamily="34" charset="-120"/>
              </a:rPr>
              <a:t>Elicitation</a:t>
            </a:r>
            <a:endParaRPr lang="en-US" sz="3000" dirty="0"/>
          </a:p>
        </p:txBody>
      </p:sp>
      <p:pic>
        <p:nvPicPr>
          <p:cNvPr id="4" name="Image 0" descr="icon_message.png">    </p:cNvPr>
          <p:cNvPicPr>
            <a:picLocks noChangeAspect="1"/>
          </p:cNvPicPr>
          <p:nvPr/>
        </p:nvPicPr>
        <p:blipFill>
          <a:blip r:embed="rId1"/>
          <a:stretch>
            <a:fillRect/>
          </a:stretch>
        </p:blipFill>
        <p:spPr>
          <a:xfrm>
            <a:off x="10607040" y="502920"/>
            <a:ext cx="1005840" cy="1005840"/>
          </a:xfrm>
          <a:prstGeom prst="rect">
            <a:avLst/>
          </a:prstGeom>
        </p:spPr>
      </p:pic>
      <p:sp>
        <p:nvSpPr>
          <p:cNvPr id="5" name="Shape 2"/>
          <p:cNvSpPr/>
          <p:nvPr/>
        </p:nvSpPr>
        <p:spPr>
          <a:xfrm>
            <a:off x="640080" y="1920240"/>
            <a:ext cx="82296" cy="1051560"/>
          </a:xfrm>
          <a:prstGeom prst="rect">
            <a:avLst/>
          </a:prstGeom>
          <a:solidFill>
            <a:srgbClr val="D9534F"/>
          </a:solidFill>
          <a:ln/>
        </p:spPr>
      </p:sp>
      <p:sp>
        <p:nvSpPr>
          <p:cNvPr id="6" name="Text 3"/>
          <p:cNvSpPr/>
          <p:nvPr/>
        </p:nvSpPr>
        <p:spPr>
          <a:xfrm>
            <a:off x="914400" y="1901952"/>
            <a:ext cx="1828800" cy="365760"/>
          </a:xfrm>
          <a:prstGeom prst="rect">
            <a:avLst/>
          </a:prstGeom>
          <a:noFill/>
          <a:ln/>
        </p:spPr>
        <p:txBody>
          <a:bodyPr wrap="square" rtlCol="0" anchor="ctr"/>
          <a:lstStyle/>
          <a:p>
            <a:pPr indent="0" marL="0">
              <a:buNone/>
            </a:pPr>
            <a:r>
              <a:rPr lang="en-US" sz="1200" b="1" spc="100" kern="0" dirty="0">
                <a:solidFill>
                  <a:srgbClr val="D9534F"/>
                </a:solidFill>
                <a:latin typeface="Arial" pitchFamily="34" charset="0"/>
                <a:ea typeface="Arial" pitchFamily="34" charset="-122"/>
                <a:cs typeface="Arial" pitchFamily="34" charset="-120"/>
              </a:rPr>
              <a:t>TRIGGER</a:t>
            </a:r>
            <a:endParaRPr lang="en-US" sz="1200" dirty="0"/>
          </a:p>
        </p:txBody>
      </p:sp>
      <p:sp>
        <p:nvSpPr>
          <p:cNvPr id="7" name="Text 4"/>
          <p:cNvSpPr/>
          <p:nvPr/>
        </p:nvSpPr>
        <p:spPr>
          <a:xfrm>
            <a:off x="914400" y="22402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Assigning a pilot already at the daily duty-time limit, or approving compensation over $500, isn't something a tool should decide alone.</a:t>
            </a:r>
            <a:endParaRPr lang="en-US" sz="1450" dirty="0"/>
          </a:p>
        </p:txBody>
      </p:sp>
      <p:sp>
        <p:nvSpPr>
          <p:cNvPr id="8" name="Shape 5"/>
          <p:cNvSpPr/>
          <p:nvPr/>
        </p:nvSpPr>
        <p:spPr>
          <a:xfrm>
            <a:off x="640080" y="3291840"/>
            <a:ext cx="82296" cy="1051560"/>
          </a:xfrm>
          <a:prstGeom prst="rect">
            <a:avLst/>
          </a:prstGeom>
          <a:solidFill>
            <a:srgbClr val="1E8A8A"/>
          </a:solidFill>
          <a:ln/>
        </p:spPr>
      </p:sp>
      <p:sp>
        <p:nvSpPr>
          <p:cNvPr id="9" name="Text 6"/>
          <p:cNvSpPr/>
          <p:nvPr/>
        </p:nvSpPr>
        <p:spPr>
          <a:xfrm>
            <a:off x="914400" y="3273552"/>
            <a:ext cx="1828800" cy="365760"/>
          </a:xfrm>
          <a:prstGeom prst="rect">
            <a:avLst/>
          </a:prstGeom>
          <a:noFill/>
          <a:ln/>
        </p:spPr>
        <p:txBody>
          <a:bodyPr wrap="square" rtlCol="0" anchor="ctr"/>
          <a:lstStyle/>
          <a:p>
            <a:pPr indent="0" marL="0">
              <a:buNone/>
            </a:pPr>
            <a:r>
              <a:rPr lang="en-US" sz="1200" b="1" spc="100" kern="0" dirty="0">
                <a:solidFill>
                  <a:srgbClr val="1E8A8A"/>
                </a:solidFill>
                <a:latin typeface="Arial" pitchFamily="34" charset="0"/>
                <a:ea typeface="Arial" pitchFamily="34" charset="-122"/>
                <a:cs typeface="Arial" pitchFamily="34" charset="-120"/>
              </a:rPr>
              <a:t>MECHANISM</a:t>
            </a:r>
            <a:endParaRPr lang="en-US" sz="1200" dirty="0"/>
          </a:p>
        </p:txBody>
      </p:sp>
      <p:sp>
        <p:nvSpPr>
          <p:cNvPr id="10" name="Text 7"/>
          <p:cNvSpPr/>
          <p:nvPr/>
        </p:nvSpPr>
        <p:spPr>
          <a:xfrm>
            <a:off x="914400" y="36118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The tool calls ctx.elicit() with a flat SupervisorDecision schema (approved, supervisor_id, note) and genuinely pauses — no DB write happens until a decision comes back.</a:t>
            </a:r>
            <a:endParaRPr lang="en-US" sz="1450" dirty="0"/>
          </a:p>
        </p:txBody>
      </p:sp>
      <p:sp>
        <p:nvSpPr>
          <p:cNvPr id="11" name="Shape 8"/>
          <p:cNvSpPr/>
          <p:nvPr/>
        </p:nvSpPr>
        <p:spPr>
          <a:xfrm>
            <a:off x="640080" y="4663440"/>
            <a:ext cx="82296" cy="1051560"/>
          </a:xfrm>
          <a:prstGeom prst="rect">
            <a:avLst/>
          </a:prstGeom>
          <a:solidFill>
            <a:srgbClr val="0B3D5C"/>
          </a:solidFill>
          <a:ln/>
        </p:spPr>
      </p:sp>
      <p:sp>
        <p:nvSpPr>
          <p:cNvPr id="12" name="Text 9"/>
          <p:cNvSpPr/>
          <p:nvPr/>
        </p:nvSpPr>
        <p:spPr>
          <a:xfrm>
            <a:off x="914400" y="4645152"/>
            <a:ext cx="1828800" cy="365760"/>
          </a:xfrm>
          <a:prstGeom prst="rect">
            <a:avLst/>
          </a:prstGeom>
          <a:noFill/>
          <a:ln/>
        </p:spPr>
        <p:txBody>
          <a:bodyPr wrap="square" rtlCol="0" anchor="ctr"/>
          <a:lstStyle/>
          <a:p>
            <a:pPr indent="0" marL="0">
              <a:buNone/>
            </a:pPr>
            <a:r>
              <a:rPr lang="en-US" sz="1200" b="1" spc="100" kern="0" dirty="0">
                <a:solidFill>
                  <a:srgbClr val="0B3D5C"/>
                </a:solidFill>
                <a:latin typeface="Arial" pitchFamily="34" charset="0"/>
                <a:ea typeface="Arial" pitchFamily="34" charset="-122"/>
                <a:cs typeface="Arial" pitchFamily="34" charset="-120"/>
              </a:rPr>
              <a:t>OUTCOME</a:t>
            </a:r>
            <a:endParaRPr lang="en-US" sz="1200" dirty="0"/>
          </a:p>
        </p:txBody>
      </p:sp>
      <p:sp>
        <p:nvSpPr>
          <p:cNvPr id="13" name="Text 10"/>
          <p:cNvSpPr/>
          <p:nvPr/>
        </p:nvSpPr>
        <p:spPr>
          <a:xfrm>
            <a:off x="914400" y="49834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Decline or cancel: rejected, nothing written. Accept: the action proceeds with the override recorded in the response.</a:t>
            </a:r>
            <a:endParaRPr lang="en-US" sz="1450" dirty="0"/>
          </a:p>
        </p:txBody>
      </p:sp>
      <p:sp>
        <p:nvSpPr>
          <p:cNvPr id="14" name="Shape 11"/>
          <p:cNvSpPr/>
          <p:nvPr/>
        </p:nvSpPr>
        <p:spPr>
          <a:xfrm>
            <a:off x="640080" y="5989320"/>
            <a:ext cx="10881360" cy="548640"/>
          </a:xfrm>
          <a:prstGeom prst="roundRect">
            <a:avLst>
              <a:gd name="adj" fmla="val 13333"/>
            </a:avLst>
          </a:prstGeom>
          <a:solidFill>
            <a:srgbClr val="0B3D5C"/>
          </a:solidFill>
          <a:ln/>
        </p:spPr>
      </p:sp>
      <p:sp>
        <p:nvSpPr>
          <p:cNvPr id="15" name="Text 12"/>
          <p:cNvSpPr/>
          <p:nvPr/>
        </p:nvSpPr>
        <p:spPr>
          <a:xfrm>
            <a:off x="868680" y="5989320"/>
            <a:ext cx="1042416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LIVE NOW:  Assigning Capt. Karim Mostafa — already at 8.0 flying / 14.0 duty hours today — to flight BH202, and approving as sup_001 on the spot.</a:t>
            </a:r>
            <a:endParaRPr lang="en-US" sz="1300" dirty="0"/>
          </a:p>
        </p:txBody>
      </p:sp>
      <p:sp>
        <p:nvSpPr>
          <p:cNvPr id="16" name="Text 13"/>
          <p:cNvSpPr/>
          <p:nvPr/>
        </p:nvSpPr>
        <p:spPr>
          <a:xfrm>
            <a:off x="11612880" y="6446520"/>
            <a:ext cx="457200" cy="320040"/>
          </a:xfrm>
          <a:prstGeom prst="rect">
            <a:avLst/>
          </a:prstGeom>
          <a:noFill/>
          <a:ln/>
        </p:spPr>
        <p:txBody>
          <a:bodyPr wrap="square" rtlCol="0" anchor="ctr"/>
          <a:lstStyle/>
          <a:p>
            <a:pPr algn="r" indent="0" marL="0">
              <a:buNone/>
            </a:pPr>
            <a:r>
              <a:rPr lang="en-US" sz="1100" dirty="0">
                <a:solidFill>
                  <a:srgbClr val="AAAAAA"/>
                </a:solidFill>
                <a:latin typeface="Arial" pitchFamily="34" charset="0"/>
                <a:ea typeface="Arial" pitchFamily="34" charset="-122"/>
                <a:cs typeface="Arial"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indent="0" marL="0">
              <a:buNone/>
            </a:pPr>
            <a:r>
              <a:rPr lang="en-US" sz="1300" b="1" spc="200" kern="0" dirty="0">
                <a:solidFill>
                  <a:srgbClr val="1E8A8A"/>
                </a:solidFill>
                <a:latin typeface="Arial" pitchFamily="34" charset="0"/>
                <a:ea typeface="Arial" pitchFamily="34" charset="-122"/>
                <a:cs typeface="Arial" pitchFamily="34" charset="-120"/>
              </a:rPr>
              <a:t>PROTOCOL CONCERN</a:t>
            </a:r>
            <a:endParaRPr lang="en-US" sz="1300" dirty="0"/>
          </a:p>
        </p:txBody>
      </p:sp>
      <p:sp>
        <p:nvSpPr>
          <p:cNvPr id="3" name="Text 1"/>
          <p:cNvSpPr/>
          <p:nvPr/>
        </p:nvSpPr>
        <p:spPr>
          <a:xfrm>
            <a:off x="548640" y="685800"/>
            <a:ext cx="10972800" cy="822960"/>
          </a:xfrm>
          <a:prstGeom prst="rect">
            <a:avLst/>
          </a:prstGeom>
          <a:noFill/>
          <a:ln/>
        </p:spPr>
        <p:txBody>
          <a:bodyPr wrap="square" rtlCol="0" anchor="ctr"/>
          <a:lstStyle/>
          <a:p>
            <a:pPr indent="0" marL="0">
              <a:buNone/>
            </a:pPr>
            <a:r>
              <a:rPr lang="en-US" sz="3000" b="1" dirty="0">
                <a:solidFill>
                  <a:srgbClr val="0B3D5C"/>
                </a:solidFill>
                <a:latin typeface="Arial" pitchFamily="34" charset="0"/>
                <a:ea typeface="Arial" pitchFamily="34" charset="-122"/>
                <a:cs typeface="Arial" pitchFamily="34" charset="-120"/>
              </a:rPr>
              <a:t>Resources</a:t>
            </a:r>
            <a:endParaRPr lang="en-US" sz="3000" dirty="0"/>
          </a:p>
        </p:txBody>
      </p:sp>
      <p:pic>
        <p:nvPicPr>
          <p:cNvPr id="4" name="Image 0" descr="icon_file.png">    </p:cNvPr>
          <p:cNvPicPr>
            <a:picLocks noChangeAspect="1"/>
          </p:cNvPicPr>
          <p:nvPr/>
        </p:nvPicPr>
        <p:blipFill>
          <a:blip r:embed="rId1"/>
          <a:stretch>
            <a:fillRect/>
          </a:stretch>
        </p:blipFill>
        <p:spPr>
          <a:xfrm>
            <a:off x="10607040" y="502920"/>
            <a:ext cx="1005840" cy="1005840"/>
          </a:xfrm>
          <a:prstGeom prst="rect">
            <a:avLst/>
          </a:prstGeom>
        </p:spPr>
      </p:pic>
      <p:sp>
        <p:nvSpPr>
          <p:cNvPr id="5" name="Shape 2"/>
          <p:cNvSpPr/>
          <p:nvPr/>
        </p:nvSpPr>
        <p:spPr>
          <a:xfrm>
            <a:off x="640080" y="1920240"/>
            <a:ext cx="82296" cy="1051560"/>
          </a:xfrm>
          <a:prstGeom prst="rect">
            <a:avLst/>
          </a:prstGeom>
          <a:solidFill>
            <a:srgbClr val="D9534F"/>
          </a:solidFill>
          <a:ln/>
        </p:spPr>
      </p:sp>
      <p:sp>
        <p:nvSpPr>
          <p:cNvPr id="6" name="Text 3"/>
          <p:cNvSpPr/>
          <p:nvPr/>
        </p:nvSpPr>
        <p:spPr>
          <a:xfrm>
            <a:off x="914400" y="1901952"/>
            <a:ext cx="1828800" cy="365760"/>
          </a:xfrm>
          <a:prstGeom prst="rect">
            <a:avLst/>
          </a:prstGeom>
          <a:noFill/>
          <a:ln/>
        </p:spPr>
        <p:txBody>
          <a:bodyPr wrap="square" rtlCol="0" anchor="ctr"/>
          <a:lstStyle/>
          <a:p>
            <a:pPr indent="0" marL="0">
              <a:buNone/>
            </a:pPr>
            <a:r>
              <a:rPr lang="en-US" sz="1200" b="1" spc="100" kern="0" dirty="0">
                <a:solidFill>
                  <a:srgbClr val="D9534F"/>
                </a:solidFill>
                <a:latin typeface="Arial" pitchFamily="34" charset="0"/>
                <a:ea typeface="Arial" pitchFamily="34" charset="-122"/>
                <a:cs typeface="Arial" pitchFamily="34" charset="-120"/>
              </a:rPr>
              <a:t>TRIGGER</a:t>
            </a:r>
            <a:endParaRPr lang="en-US" sz="1200" dirty="0"/>
          </a:p>
        </p:txBody>
      </p:sp>
      <p:sp>
        <p:nvSpPr>
          <p:cNvPr id="7" name="Text 4"/>
          <p:cNvSpPr/>
          <p:nvPr/>
        </p:nvSpPr>
        <p:spPr>
          <a:xfrm>
            <a:off x="914400" y="22402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The duty-time policy (8h flying / 14h duty) is reference data the model should read once and reason over — not an action to call repeatedly.</a:t>
            </a:r>
            <a:endParaRPr lang="en-US" sz="1450" dirty="0"/>
          </a:p>
        </p:txBody>
      </p:sp>
      <p:sp>
        <p:nvSpPr>
          <p:cNvPr id="8" name="Shape 5"/>
          <p:cNvSpPr/>
          <p:nvPr/>
        </p:nvSpPr>
        <p:spPr>
          <a:xfrm>
            <a:off x="640080" y="3291840"/>
            <a:ext cx="82296" cy="1051560"/>
          </a:xfrm>
          <a:prstGeom prst="rect">
            <a:avLst/>
          </a:prstGeom>
          <a:solidFill>
            <a:srgbClr val="1E8A8A"/>
          </a:solidFill>
          <a:ln/>
        </p:spPr>
      </p:sp>
      <p:sp>
        <p:nvSpPr>
          <p:cNvPr id="9" name="Text 6"/>
          <p:cNvSpPr/>
          <p:nvPr/>
        </p:nvSpPr>
        <p:spPr>
          <a:xfrm>
            <a:off x="914400" y="3273552"/>
            <a:ext cx="1828800" cy="365760"/>
          </a:xfrm>
          <a:prstGeom prst="rect">
            <a:avLst/>
          </a:prstGeom>
          <a:noFill/>
          <a:ln/>
        </p:spPr>
        <p:txBody>
          <a:bodyPr wrap="square" rtlCol="0" anchor="ctr"/>
          <a:lstStyle/>
          <a:p>
            <a:pPr indent="0" marL="0">
              <a:buNone/>
            </a:pPr>
            <a:r>
              <a:rPr lang="en-US" sz="1200" b="1" spc="100" kern="0" dirty="0">
                <a:solidFill>
                  <a:srgbClr val="1E8A8A"/>
                </a:solidFill>
                <a:latin typeface="Arial" pitchFamily="34" charset="0"/>
                <a:ea typeface="Arial" pitchFamily="34" charset="-122"/>
                <a:cs typeface="Arial" pitchFamily="34" charset="-120"/>
              </a:rPr>
              <a:t>MECHANISM</a:t>
            </a:r>
            <a:endParaRPr lang="en-US" sz="1200" dirty="0"/>
          </a:p>
        </p:txBody>
      </p:sp>
      <p:sp>
        <p:nvSpPr>
          <p:cNvPr id="10" name="Text 7"/>
          <p:cNvSpPr/>
          <p:nvPr/>
        </p:nvSpPr>
        <p:spPr>
          <a:xfrm>
            <a:off x="914400" y="36118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Exposed as policy://duty-time-limits via @mcp.resource(), discoverable through resources/list and fetched with resources/read.</a:t>
            </a:r>
            <a:endParaRPr lang="en-US" sz="1450" dirty="0"/>
          </a:p>
        </p:txBody>
      </p:sp>
      <p:sp>
        <p:nvSpPr>
          <p:cNvPr id="11" name="Shape 8"/>
          <p:cNvSpPr/>
          <p:nvPr/>
        </p:nvSpPr>
        <p:spPr>
          <a:xfrm>
            <a:off x="640080" y="4663440"/>
            <a:ext cx="82296" cy="1051560"/>
          </a:xfrm>
          <a:prstGeom prst="rect">
            <a:avLst/>
          </a:prstGeom>
          <a:solidFill>
            <a:srgbClr val="0B3D5C"/>
          </a:solidFill>
          <a:ln/>
        </p:spPr>
      </p:sp>
      <p:sp>
        <p:nvSpPr>
          <p:cNvPr id="12" name="Text 9"/>
          <p:cNvSpPr/>
          <p:nvPr/>
        </p:nvSpPr>
        <p:spPr>
          <a:xfrm>
            <a:off x="914400" y="4645152"/>
            <a:ext cx="1828800" cy="365760"/>
          </a:xfrm>
          <a:prstGeom prst="rect">
            <a:avLst/>
          </a:prstGeom>
          <a:noFill/>
          <a:ln/>
        </p:spPr>
        <p:txBody>
          <a:bodyPr wrap="square" rtlCol="0" anchor="ctr"/>
          <a:lstStyle/>
          <a:p>
            <a:pPr indent="0" marL="0">
              <a:buNone/>
            </a:pPr>
            <a:r>
              <a:rPr lang="en-US" sz="1200" b="1" spc="100" kern="0" dirty="0">
                <a:solidFill>
                  <a:srgbClr val="0B3D5C"/>
                </a:solidFill>
                <a:latin typeface="Arial" pitchFamily="34" charset="0"/>
                <a:ea typeface="Arial" pitchFamily="34" charset="-122"/>
                <a:cs typeface="Arial" pitchFamily="34" charset="-120"/>
              </a:rPr>
              <a:t>OUTCOME</a:t>
            </a:r>
            <a:endParaRPr lang="en-US" sz="1200" dirty="0"/>
          </a:p>
        </p:txBody>
      </p:sp>
      <p:sp>
        <p:nvSpPr>
          <p:cNvPr id="13" name="Text 10"/>
          <p:cNvSpPr/>
          <p:nvPr/>
        </p:nvSpPr>
        <p:spPr>
          <a:xfrm>
            <a:off x="914400" y="49834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The model can check the policy itself before even attempting a risky assignment, instead of learning the limits only by hitting a rejection.</a:t>
            </a:r>
            <a:endParaRPr lang="en-US" sz="1450" dirty="0"/>
          </a:p>
        </p:txBody>
      </p:sp>
      <p:sp>
        <p:nvSpPr>
          <p:cNvPr id="14" name="Shape 11"/>
          <p:cNvSpPr/>
          <p:nvPr/>
        </p:nvSpPr>
        <p:spPr>
          <a:xfrm>
            <a:off x="640080" y="5989320"/>
            <a:ext cx="10881360" cy="548640"/>
          </a:xfrm>
          <a:prstGeom prst="roundRect">
            <a:avLst>
              <a:gd name="adj" fmla="val 13333"/>
            </a:avLst>
          </a:prstGeom>
          <a:solidFill>
            <a:srgbClr val="0B3D5C"/>
          </a:solidFill>
          <a:ln/>
        </p:spPr>
      </p:sp>
      <p:sp>
        <p:nvSpPr>
          <p:cNvPr id="15" name="Text 12"/>
          <p:cNvSpPr/>
          <p:nvPr/>
        </p:nvSpPr>
        <p:spPr>
          <a:xfrm>
            <a:off x="868680" y="5989320"/>
            <a:ext cx="1042416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LIVE NOW:  Listing resources and reading policy://duty-time-limits to show the exact limits the elicitation check just enforced.</a:t>
            </a:r>
            <a:endParaRPr lang="en-US" sz="1300" dirty="0"/>
          </a:p>
        </p:txBody>
      </p:sp>
      <p:sp>
        <p:nvSpPr>
          <p:cNvPr id="16" name="Text 13"/>
          <p:cNvSpPr/>
          <p:nvPr/>
        </p:nvSpPr>
        <p:spPr>
          <a:xfrm>
            <a:off x="11612880" y="6446520"/>
            <a:ext cx="457200" cy="320040"/>
          </a:xfrm>
          <a:prstGeom prst="rect">
            <a:avLst/>
          </a:prstGeom>
          <a:noFill/>
          <a:ln/>
        </p:spPr>
        <p:txBody>
          <a:bodyPr wrap="square" rtlCol="0" anchor="ctr"/>
          <a:lstStyle/>
          <a:p>
            <a:pPr algn="r" indent="0" marL="0">
              <a:buNone/>
            </a:pPr>
            <a:r>
              <a:rPr lang="en-US" sz="1100" dirty="0">
                <a:solidFill>
                  <a:srgbClr val="AAAAAA"/>
                </a:solidFill>
                <a:latin typeface="Arial" pitchFamily="34" charset="0"/>
                <a:ea typeface="Arial" pitchFamily="34" charset="-122"/>
                <a:cs typeface="Arial"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indent="0" marL="0">
              <a:buNone/>
            </a:pPr>
            <a:r>
              <a:rPr lang="en-US" sz="1300" b="1" spc="200" kern="0" dirty="0">
                <a:solidFill>
                  <a:srgbClr val="1E8A8A"/>
                </a:solidFill>
                <a:latin typeface="Arial" pitchFamily="34" charset="0"/>
                <a:ea typeface="Arial" pitchFamily="34" charset="-122"/>
                <a:cs typeface="Arial" pitchFamily="34" charset="-120"/>
              </a:rPr>
              <a:t>PROTOCOL CONCERN</a:t>
            </a:r>
            <a:endParaRPr lang="en-US" sz="1300" dirty="0"/>
          </a:p>
        </p:txBody>
      </p:sp>
      <p:sp>
        <p:nvSpPr>
          <p:cNvPr id="3" name="Text 1"/>
          <p:cNvSpPr/>
          <p:nvPr/>
        </p:nvSpPr>
        <p:spPr>
          <a:xfrm>
            <a:off x="548640" y="685800"/>
            <a:ext cx="10972800" cy="822960"/>
          </a:xfrm>
          <a:prstGeom prst="rect">
            <a:avLst/>
          </a:prstGeom>
          <a:noFill/>
          <a:ln/>
        </p:spPr>
        <p:txBody>
          <a:bodyPr wrap="square" rtlCol="0" anchor="ctr"/>
          <a:lstStyle/>
          <a:p>
            <a:pPr indent="0" marL="0">
              <a:buNone/>
            </a:pPr>
            <a:r>
              <a:rPr lang="en-US" sz="3000" b="1" dirty="0">
                <a:solidFill>
                  <a:srgbClr val="0B3D5C"/>
                </a:solidFill>
                <a:latin typeface="Arial" pitchFamily="34" charset="0"/>
                <a:ea typeface="Arial" pitchFamily="34" charset="-122"/>
                <a:cs typeface="Arial" pitchFamily="34" charset="-120"/>
              </a:rPr>
              <a:t>Prompts</a:t>
            </a:r>
            <a:endParaRPr lang="en-US" sz="3000" dirty="0"/>
          </a:p>
        </p:txBody>
      </p:sp>
      <p:pic>
        <p:nvPicPr>
          <p:cNvPr id="4" name="Image 0" descr="icon_file.png">    </p:cNvPr>
          <p:cNvPicPr>
            <a:picLocks noChangeAspect="1"/>
          </p:cNvPicPr>
          <p:nvPr/>
        </p:nvPicPr>
        <p:blipFill>
          <a:blip r:embed="rId1"/>
          <a:stretch>
            <a:fillRect/>
          </a:stretch>
        </p:blipFill>
        <p:spPr>
          <a:xfrm>
            <a:off x="10607040" y="502920"/>
            <a:ext cx="1005840" cy="1005840"/>
          </a:xfrm>
          <a:prstGeom prst="rect">
            <a:avLst/>
          </a:prstGeom>
        </p:spPr>
      </p:pic>
      <p:sp>
        <p:nvSpPr>
          <p:cNvPr id="5" name="Shape 2"/>
          <p:cNvSpPr/>
          <p:nvPr/>
        </p:nvSpPr>
        <p:spPr>
          <a:xfrm>
            <a:off x="640080" y="1920240"/>
            <a:ext cx="82296" cy="1051560"/>
          </a:xfrm>
          <a:prstGeom prst="rect">
            <a:avLst/>
          </a:prstGeom>
          <a:solidFill>
            <a:srgbClr val="D9534F"/>
          </a:solidFill>
          <a:ln/>
        </p:spPr>
      </p:sp>
      <p:sp>
        <p:nvSpPr>
          <p:cNvPr id="6" name="Text 3"/>
          <p:cNvSpPr/>
          <p:nvPr/>
        </p:nvSpPr>
        <p:spPr>
          <a:xfrm>
            <a:off x="914400" y="1901952"/>
            <a:ext cx="1828800" cy="365760"/>
          </a:xfrm>
          <a:prstGeom prst="rect">
            <a:avLst/>
          </a:prstGeom>
          <a:noFill/>
          <a:ln/>
        </p:spPr>
        <p:txBody>
          <a:bodyPr wrap="square" rtlCol="0" anchor="ctr"/>
          <a:lstStyle/>
          <a:p>
            <a:pPr indent="0" marL="0">
              <a:buNone/>
            </a:pPr>
            <a:r>
              <a:rPr lang="en-US" sz="1200" b="1" spc="100" kern="0" dirty="0">
                <a:solidFill>
                  <a:srgbClr val="D9534F"/>
                </a:solidFill>
                <a:latin typeface="Arial" pitchFamily="34" charset="0"/>
                <a:ea typeface="Arial" pitchFamily="34" charset="-122"/>
                <a:cs typeface="Arial" pitchFamily="34" charset="-120"/>
              </a:rPr>
              <a:t>TRIGGER</a:t>
            </a:r>
            <a:endParaRPr lang="en-US" sz="1200" dirty="0"/>
          </a:p>
        </p:txBody>
      </p:sp>
      <p:sp>
        <p:nvSpPr>
          <p:cNvPr id="7" name="Text 4"/>
          <p:cNvSpPr/>
          <p:nvPr/>
        </p:nvSpPr>
        <p:spPr>
          <a:xfrm>
            <a:off x="914400" y="22402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Drafting a passenger apology for a disrupted flight is common enough that every client shouldn't reinvent the wording from scratch.</a:t>
            </a:r>
            <a:endParaRPr lang="en-US" sz="1450" dirty="0"/>
          </a:p>
        </p:txBody>
      </p:sp>
      <p:sp>
        <p:nvSpPr>
          <p:cNvPr id="8" name="Shape 5"/>
          <p:cNvSpPr/>
          <p:nvPr/>
        </p:nvSpPr>
        <p:spPr>
          <a:xfrm>
            <a:off x="640080" y="3291840"/>
            <a:ext cx="82296" cy="1051560"/>
          </a:xfrm>
          <a:prstGeom prst="rect">
            <a:avLst/>
          </a:prstGeom>
          <a:solidFill>
            <a:srgbClr val="1E8A8A"/>
          </a:solidFill>
          <a:ln/>
        </p:spPr>
      </p:sp>
      <p:sp>
        <p:nvSpPr>
          <p:cNvPr id="9" name="Text 6"/>
          <p:cNvSpPr/>
          <p:nvPr/>
        </p:nvSpPr>
        <p:spPr>
          <a:xfrm>
            <a:off x="914400" y="3273552"/>
            <a:ext cx="1828800" cy="365760"/>
          </a:xfrm>
          <a:prstGeom prst="rect">
            <a:avLst/>
          </a:prstGeom>
          <a:noFill/>
          <a:ln/>
        </p:spPr>
        <p:txBody>
          <a:bodyPr wrap="square" rtlCol="0" anchor="ctr"/>
          <a:lstStyle/>
          <a:p>
            <a:pPr indent="0" marL="0">
              <a:buNone/>
            </a:pPr>
            <a:r>
              <a:rPr lang="en-US" sz="1200" b="1" spc="100" kern="0" dirty="0">
                <a:solidFill>
                  <a:srgbClr val="1E8A8A"/>
                </a:solidFill>
                <a:latin typeface="Arial" pitchFamily="34" charset="0"/>
                <a:ea typeface="Arial" pitchFamily="34" charset="-122"/>
                <a:cs typeface="Arial" pitchFamily="34" charset="-120"/>
              </a:rPr>
              <a:t>MECHANISM</a:t>
            </a:r>
            <a:endParaRPr lang="en-US" sz="1200" dirty="0"/>
          </a:p>
        </p:txBody>
      </p:sp>
      <p:sp>
        <p:nvSpPr>
          <p:cNvPr id="10" name="Text 7"/>
          <p:cNvSpPr/>
          <p:nvPr/>
        </p:nvSpPr>
        <p:spPr>
          <a:xfrm>
            <a:off x="914400" y="36118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draft_disruption_message(flight_number, disruption_reason) is exposed via @mcp.prompt() — a canned, parameterized starting point the host's own model fills in.</a:t>
            </a:r>
            <a:endParaRPr lang="en-US" sz="1450" dirty="0"/>
          </a:p>
        </p:txBody>
      </p:sp>
      <p:sp>
        <p:nvSpPr>
          <p:cNvPr id="11" name="Shape 8"/>
          <p:cNvSpPr/>
          <p:nvPr/>
        </p:nvSpPr>
        <p:spPr>
          <a:xfrm>
            <a:off x="640080" y="4663440"/>
            <a:ext cx="82296" cy="1051560"/>
          </a:xfrm>
          <a:prstGeom prst="rect">
            <a:avLst/>
          </a:prstGeom>
          <a:solidFill>
            <a:srgbClr val="0B3D5C"/>
          </a:solidFill>
          <a:ln/>
        </p:spPr>
      </p:sp>
      <p:sp>
        <p:nvSpPr>
          <p:cNvPr id="12" name="Text 9"/>
          <p:cNvSpPr/>
          <p:nvPr/>
        </p:nvSpPr>
        <p:spPr>
          <a:xfrm>
            <a:off x="914400" y="4645152"/>
            <a:ext cx="1828800" cy="365760"/>
          </a:xfrm>
          <a:prstGeom prst="rect">
            <a:avLst/>
          </a:prstGeom>
          <a:noFill/>
          <a:ln/>
        </p:spPr>
        <p:txBody>
          <a:bodyPr wrap="square" rtlCol="0" anchor="ctr"/>
          <a:lstStyle/>
          <a:p>
            <a:pPr indent="0" marL="0">
              <a:buNone/>
            </a:pPr>
            <a:r>
              <a:rPr lang="en-US" sz="1200" b="1" spc="100" kern="0" dirty="0">
                <a:solidFill>
                  <a:srgbClr val="0B3D5C"/>
                </a:solidFill>
                <a:latin typeface="Arial" pitchFamily="34" charset="0"/>
                <a:ea typeface="Arial" pitchFamily="34" charset="-122"/>
                <a:cs typeface="Arial" pitchFamily="34" charset="-120"/>
              </a:rPr>
              <a:t>OUTCOME</a:t>
            </a:r>
            <a:endParaRPr lang="en-US" sz="1200" dirty="0"/>
          </a:p>
        </p:txBody>
      </p:sp>
      <p:sp>
        <p:nvSpPr>
          <p:cNvPr id="13" name="Text 10"/>
          <p:cNvSpPr/>
          <p:nvPr/>
        </p:nvSpPr>
        <p:spPr>
          <a:xfrm>
            <a:off x="914400" y="49834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Any client can discover and reuse the same starting point through prompts/list and prompts/get, consistent every time.</a:t>
            </a:r>
            <a:endParaRPr lang="en-US" sz="1450" dirty="0"/>
          </a:p>
        </p:txBody>
      </p:sp>
      <p:sp>
        <p:nvSpPr>
          <p:cNvPr id="14" name="Shape 11"/>
          <p:cNvSpPr/>
          <p:nvPr/>
        </p:nvSpPr>
        <p:spPr>
          <a:xfrm>
            <a:off x="640080" y="5989320"/>
            <a:ext cx="10881360" cy="548640"/>
          </a:xfrm>
          <a:prstGeom prst="roundRect">
            <a:avLst>
              <a:gd name="adj" fmla="val 13333"/>
            </a:avLst>
          </a:prstGeom>
          <a:solidFill>
            <a:srgbClr val="0B3D5C"/>
          </a:solidFill>
          <a:ln/>
        </p:spPr>
      </p:sp>
      <p:sp>
        <p:nvSpPr>
          <p:cNvPr id="15" name="Text 12"/>
          <p:cNvSpPr/>
          <p:nvPr/>
        </p:nvSpPr>
        <p:spPr>
          <a:xfrm>
            <a:off x="868680" y="5989320"/>
            <a:ext cx="1042416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LIVE NOW:  Fetching the draft_disruption_message prompt for flight BH202 with reason “mechanical issue.”</a:t>
            </a:r>
            <a:endParaRPr lang="en-US" sz="1300" dirty="0"/>
          </a:p>
        </p:txBody>
      </p:sp>
      <p:sp>
        <p:nvSpPr>
          <p:cNvPr id="16" name="Text 13"/>
          <p:cNvSpPr/>
          <p:nvPr/>
        </p:nvSpPr>
        <p:spPr>
          <a:xfrm>
            <a:off x="11612880" y="6446520"/>
            <a:ext cx="457200" cy="320040"/>
          </a:xfrm>
          <a:prstGeom prst="rect">
            <a:avLst/>
          </a:prstGeom>
          <a:noFill/>
          <a:ln/>
        </p:spPr>
        <p:txBody>
          <a:bodyPr wrap="square" rtlCol="0" anchor="ctr"/>
          <a:lstStyle/>
          <a:p>
            <a:pPr algn="r" indent="0" marL="0">
              <a:buNone/>
            </a:pPr>
            <a:r>
              <a:rPr lang="en-US" sz="1100" dirty="0">
                <a:solidFill>
                  <a:srgbClr val="AAAAAA"/>
                </a:solidFill>
                <a:latin typeface="Arial" pitchFamily="34" charset="0"/>
                <a:ea typeface="Arial" pitchFamily="34" charset="-122"/>
                <a:cs typeface="Arial"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indent="0" marL="0">
              <a:buNone/>
            </a:pPr>
            <a:r>
              <a:rPr lang="en-US" sz="1300" b="1" spc="200" kern="0" dirty="0">
                <a:solidFill>
                  <a:srgbClr val="1E8A8A"/>
                </a:solidFill>
                <a:latin typeface="Arial" pitchFamily="34" charset="0"/>
                <a:ea typeface="Arial" pitchFamily="34" charset="-122"/>
                <a:cs typeface="Arial" pitchFamily="34" charset="-120"/>
              </a:rPr>
              <a:t>PROTOCOL CONCERN</a:t>
            </a:r>
            <a:endParaRPr lang="en-US" sz="1300" dirty="0"/>
          </a:p>
        </p:txBody>
      </p:sp>
      <p:sp>
        <p:nvSpPr>
          <p:cNvPr id="3" name="Text 1"/>
          <p:cNvSpPr/>
          <p:nvPr/>
        </p:nvSpPr>
        <p:spPr>
          <a:xfrm>
            <a:off x="548640" y="685800"/>
            <a:ext cx="10972800" cy="822960"/>
          </a:xfrm>
          <a:prstGeom prst="rect">
            <a:avLst/>
          </a:prstGeom>
          <a:noFill/>
          <a:ln/>
        </p:spPr>
        <p:txBody>
          <a:bodyPr wrap="square" rtlCol="0" anchor="ctr"/>
          <a:lstStyle/>
          <a:p>
            <a:pPr indent="0" marL="0">
              <a:buNone/>
            </a:pPr>
            <a:r>
              <a:rPr lang="en-US" sz="3000" b="1" dirty="0">
                <a:solidFill>
                  <a:srgbClr val="0B3D5C"/>
                </a:solidFill>
                <a:latin typeface="Arial" pitchFamily="34" charset="0"/>
                <a:ea typeface="Arial" pitchFamily="34" charset="-122"/>
                <a:cs typeface="Arial" pitchFamily="34" charset="-120"/>
              </a:rPr>
              <a:t>Sampling</a:t>
            </a:r>
            <a:endParaRPr lang="en-US" sz="3000" dirty="0"/>
          </a:p>
        </p:txBody>
      </p:sp>
      <p:pic>
        <p:nvPicPr>
          <p:cNvPr id="4" name="Image 0" descr="icon_cpu.png">    </p:cNvPr>
          <p:cNvPicPr>
            <a:picLocks noChangeAspect="1"/>
          </p:cNvPicPr>
          <p:nvPr/>
        </p:nvPicPr>
        <p:blipFill>
          <a:blip r:embed="rId1"/>
          <a:stretch>
            <a:fillRect/>
          </a:stretch>
        </p:blipFill>
        <p:spPr>
          <a:xfrm>
            <a:off x="10607040" y="502920"/>
            <a:ext cx="1005840" cy="1005840"/>
          </a:xfrm>
          <a:prstGeom prst="rect">
            <a:avLst/>
          </a:prstGeom>
        </p:spPr>
      </p:pic>
      <p:sp>
        <p:nvSpPr>
          <p:cNvPr id="5" name="Shape 2"/>
          <p:cNvSpPr/>
          <p:nvPr/>
        </p:nvSpPr>
        <p:spPr>
          <a:xfrm>
            <a:off x="640080" y="1920240"/>
            <a:ext cx="82296" cy="1051560"/>
          </a:xfrm>
          <a:prstGeom prst="rect">
            <a:avLst/>
          </a:prstGeom>
          <a:solidFill>
            <a:srgbClr val="D9534F"/>
          </a:solidFill>
          <a:ln/>
        </p:spPr>
      </p:sp>
      <p:sp>
        <p:nvSpPr>
          <p:cNvPr id="6" name="Text 3"/>
          <p:cNvSpPr/>
          <p:nvPr/>
        </p:nvSpPr>
        <p:spPr>
          <a:xfrm>
            <a:off x="914400" y="1901952"/>
            <a:ext cx="1828800" cy="365760"/>
          </a:xfrm>
          <a:prstGeom prst="rect">
            <a:avLst/>
          </a:prstGeom>
          <a:noFill/>
          <a:ln/>
        </p:spPr>
        <p:txBody>
          <a:bodyPr wrap="square" rtlCol="0" anchor="ctr"/>
          <a:lstStyle/>
          <a:p>
            <a:pPr indent="0" marL="0">
              <a:buNone/>
            </a:pPr>
            <a:r>
              <a:rPr lang="en-US" sz="1200" b="1" spc="100" kern="0" dirty="0">
                <a:solidFill>
                  <a:srgbClr val="D9534F"/>
                </a:solidFill>
                <a:latin typeface="Arial" pitchFamily="34" charset="0"/>
                <a:ea typeface="Arial" pitchFamily="34" charset="-122"/>
                <a:cs typeface="Arial" pitchFamily="34" charset="-120"/>
              </a:rPr>
              <a:t>TRIGGER</a:t>
            </a:r>
            <a:endParaRPr lang="en-US" sz="1200" dirty="0"/>
          </a:p>
        </p:txBody>
      </p:sp>
      <p:sp>
        <p:nvSpPr>
          <p:cNvPr id="7" name="Text 4"/>
          <p:cNvSpPr/>
          <p:nvPr/>
        </p:nvSpPr>
        <p:spPr>
          <a:xfrm>
            <a:off x="914400" y="22402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generate_disruption_notice needs the server to actually produce ready-to-send prose as part of a tool's own output — using the real disruption reason from the database.</a:t>
            </a:r>
            <a:endParaRPr lang="en-US" sz="1450" dirty="0"/>
          </a:p>
        </p:txBody>
      </p:sp>
      <p:sp>
        <p:nvSpPr>
          <p:cNvPr id="8" name="Shape 5"/>
          <p:cNvSpPr/>
          <p:nvPr/>
        </p:nvSpPr>
        <p:spPr>
          <a:xfrm>
            <a:off x="640080" y="3291840"/>
            <a:ext cx="82296" cy="1051560"/>
          </a:xfrm>
          <a:prstGeom prst="rect">
            <a:avLst/>
          </a:prstGeom>
          <a:solidFill>
            <a:srgbClr val="1E8A8A"/>
          </a:solidFill>
          <a:ln/>
        </p:spPr>
      </p:sp>
      <p:sp>
        <p:nvSpPr>
          <p:cNvPr id="9" name="Text 6"/>
          <p:cNvSpPr/>
          <p:nvPr/>
        </p:nvSpPr>
        <p:spPr>
          <a:xfrm>
            <a:off x="914400" y="3273552"/>
            <a:ext cx="1828800" cy="365760"/>
          </a:xfrm>
          <a:prstGeom prst="rect">
            <a:avLst/>
          </a:prstGeom>
          <a:noFill/>
          <a:ln/>
        </p:spPr>
        <p:txBody>
          <a:bodyPr wrap="square" rtlCol="0" anchor="ctr"/>
          <a:lstStyle/>
          <a:p>
            <a:pPr indent="0" marL="0">
              <a:buNone/>
            </a:pPr>
            <a:r>
              <a:rPr lang="en-US" sz="1200" b="1" spc="100" kern="0" dirty="0">
                <a:solidFill>
                  <a:srgbClr val="1E8A8A"/>
                </a:solidFill>
                <a:latin typeface="Arial" pitchFamily="34" charset="0"/>
                <a:ea typeface="Arial" pitchFamily="34" charset="-122"/>
                <a:cs typeface="Arial" pitchFamily="34" charset="-120"/>
              </a:rPr>
              <a:t>MECHANISM</a:t>
            </a:r>
            <a:endParaRPr lang="en-US" sz="1200" dirty="0"/>
          </a:p>
        </p:txBody>
      </p:sp>
      <p:sp>
        <p:nvSpPr>
          <p:cNvPr id="10" name="Text 7"/>
          <p:cNvSpPr/>
          <p:nvPr/>
        </p:nvSpPr>
        <p:spPr>
          <a:xfrm>
            <a:off x="914400" y="36118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The tool calls ctx.session.create_message(...) — a real sampling/createMessage request answered by the connected client's model, not a model the server owns.</a:t>
            </a:r>
            <a:endParaRPr lang="en-US" sz="1450" dirty="0"/>
          </a:p>
        </p:txBody>
      </p:sp>
      <p:sp>
        <p:nvSpPr>
          <p:cNvPr id="11" name="Shape 8"/>
          <p:cNvSpPr/>
          <p:nvPr/>
        </p:nvSpPr>
        <p:spPr>
          <a:xfrm>
            <a:off x="640080" y="4663440"/>
            <a:ext cx="82296" cy="1051560"/>
          </a:xfrm>
          <a:prstGeom prst="rect">
            <a:avLst/>
          </a:prstGeom>
          <a:solidFill>
            <a:srgbClr val="0B3D5C"/>
          </a:solidFill>
          <a:ln/>
        </p:spPr>
      </p:sp>
      <p:sp>
        <p:nvSpPr>
          <p:cNvPr id="12" name="Text 9"/>
          <p:cNvSpPr/>
          <p:nvPr/>
        </p:nvSpPr>
        <p:spPr>
          <a:xfrm>
            <a:off x="914400" y="4645152"/>
            <a:ext cx="1828800" cy="365760"/>
          </a:xfrm>
          <a:prstGeom prst="rect">
            <a:avLst/>
          </a:prstGeom>
          <a:noFill/>
          <a:ln/>
        </p:spPr>
        <p:txBody>
          <a:bodyPr wrap="square" rtlCol="0" anchor="ctr"/>
          <a:lstStyle/>
          <a:p>
            <a:pPr indent="0" marL="0">
              <a:buNone/>
            </a:pPr>
            <a:r>
              <a:rPr lang="en-US" sz="1200" b="1" spc="100" kern="0" dirty="0">
                <a:solidFill>
                  <a:srgbClr val="0B3D5C"/>
                </a:solidFill>
                <a:latin typeface="Arial" pitchFamily="34" charset="0"/>
                <a:ea typeface="Arial" pitchFamily="34" charset="-122"/>
                <a:cs typeface="Arial" pitchFamily="34" charset="-120"/>
              </a:rPr>
              <a:t>OUTCOME</a:t>
            </a:r>
            <a:endParaRPr lang="en-US" sz="1200" dirty="0"/>
          </a:p>
        </p:txBody>
      </p:sp>
      <p:sp>
        <p:nvSpPr>
          <p:cNvPr id="13" name="Text 10"/>
          <p:cNvSpPr/>
          <p:nvPr/>
        </p:nvSpPr>
        <p:spPr>
          <a:xfrm>
            <a:off x="914400" y="49834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The server never assumes which model is available; it borrows the client's, the same way elicitation borrows the client's human.</a:t>
            </a:r>
            <a:endParaRPr lang="en-US" sz="1450" dirty="0"/>
          </a:p>
        </p:txBody>
      </p:sp>
      <p:sp>
        <p:nvSpPr>
          <p:cNvPr id="14" name="Shape 11"/>
          <p:cNvSpPr/>
          <p:nvPr/>
        </p:nvSpPr>
        <p:spPr>
          <a:xfrm>
            <a:off x="640080" y="5989320"/>
            <a:ext cx="10881360" cy="548640"/>
          </a:xfrm>
          <a:prstGeom prst="roundRect">
            <a:avLst>
              <a:gd name="adj" fmla="val 13333"/>
            </a:avLst>
          </a:prstGeom>
          <a:solidFill>
            <a:srgbClr val="0B3D5C"/>
          </a:solidFill>
          <a:ln/>
        </p:spPr>
      </p:sp>
      <p:sp>
        <p:nvSpPr>
          <p:cNvPr id="15" name="Text 12"/>
          <p:cNvSpPr/>
          <p:nvPr/>
        </p:nvSpPr>
        <p:spPr>
          <a:xfrm>
            <a:off x="868680" y="5989320"/>
            <a:ext cx="1042416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LIVE NOW:  Calling generate_disruption_notice for BH202 and watching the connected client's model write the notice live.</a:t>
            </a:r>
            <a:endParaRPr lang="en-US" sz="1300" dirty="0"/>
          </a:p>
        </p:txBody>
      </p:sp>
      <p:sp>
        <p:nvSpPr>
          <p:cNvPr id="16" name="Text 13"/>
          <p:cNvSpPr/>
          <p:nvPr/>
        </p:nvSpPr>
        <p:spPr>
          <a:xfrm>
            <a:off x="11612880" y="6446520"/>
            <a:ext cx="457200" cy="320040"/>
          </a:xfrm>
          <a:prstGeom prst="rect">
            <a:avLst/>
          </a:prstGeom>
          <a:noFill/>
          <a:ln/>
        </p:spPr>
        <p:txBody>
          <a:bodyPr wrap="square" rtlCol="0" anchor="ctr"/>
          <a:lstStyle/>
          <a:p>
            <a:pPr algn="r" indent="0" marL="0">
              <a:buNone/>
            </a:pPr>
            <a:r>
              <a:rPr lang="en-US" sz="1100" dirty="0">
                <a:solidFill>
                  <a:srgbClr val="AAAAAA"/>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indent="0" marL="0">
              <a:buNone/>
            </a:pPr>
            <a:r>
              <a:rPr lang="en-US" sz="1300" b="1" spc="200" kern="0" dirty="0">
                <a:solidFill>
                  <a:srgbClr val="1E8A8A"/>
                </a:solidFill>
                <a:latin typeface="Arial" pitchFamily="34" charset="0"/>
                <a:ea typeface="Arial" pitchFamily="34" charset="-122"/>
                <a:cs typeface="Arial" pitchFamily="34" charset="-120"/>
              </a:rPr>
              <a:t>PROTOCOL CONCERN</a:t>
            </a:r>
            <a:endParaRPr lang="en-US" sz="1300" dirty="0"/>
          </a:p>
        </p:txBody>
      </p:sp>
      <p:sp>
        <p:nvSpPr>
          <p:cNvPr id="3" name="Text 1"/>
          <p:cNvSpPr/>
          <p:nvPr/>
        </p:nvSpPr>
        <p:spPr>
          <a:xfrm>
            <a:off x="548640" y="685800"/>
            <a:ext cx="10972800" cy="822960"/>
          </a:xfrm>
          <a:prstGeom prst="rect">
            <a:avLst/>
          </a:prstGeom>
          <a:noFill/>
          <a:ln/>
        </p:spPr>
        <p:txBody>
          <a:bodyPr wrap="square" rtlCol="0" anchor="ctr"/>
          <a:lstStyle/>
          <a:p>
            <a:pPr indent="0" marL="0">
              <a:buNone/>
            </a:pPr>
            <a:r>
              <a:rPr lang="en-US" sz="3000" b="1" dirty="0">
                <a:solidFill>
                  <a:srgbClr val="0B3D5C"/>
                </a:solidFill>
                <a:latin typeface="Arial" pitchFamily="34" charset="0"/>
                <a:ea typeface="Arial" pitchFamily="34" charset="-122"/>
                <a:cs typeface="Arial" pitchFamily="34" charset="-120"/>
              </a:rPr>
              <a:t>Progress Tracking</a:t>
            </a:r>
            <a:endParaRPr lang="en-US" sz="3000" dirty="0"/>
          </a:p>
        </p:txBody>
      </p:sp>
      <p:pic>
        <p:nvPicPr>
          <p:cNvPr id="4" name="Image 0" descr="icon_clock.png">    </p:cNvPr>
          <p:cNvPicPr>
            <a:picLocks noChangeAspect="1"/>
          </p:cNvPicPr>
          <p:nvPr/>
        </p:nvPicPr>
        <p:blipFill>
          <a:blip r:embed="rId1"/>
          <a:stretch>
            <a:fillRect/>
          </a:stretch>
        </p:blipFill>
        <p:spPr>
          <a:xfrm>
            <a:off x="10607040" y="502920"/>
            <a:ext cx="1005840" cy="1005840"/>
          </a:xfrm>
          <a:prstGeom prst="rect">
            <a:avLst/>
          </a:prstGeom>
        </p:spPr>
      </p:pic>
      <p:sp>
        <p:nvSpPr>
          <p:cNvPr id="5" name="Shape 2"/>
          <p:cNvSpPr/>
          <p:nvPr/>
        </p:nvSpPr>
        <p:spPr>
          <a:xfrm>
            <a:off x="640080" y="1920240"/>
            <a:ext cx="82296" cy="1051560"/>
          </a:xfrm>
          <a:prstGeom prst="rect">
            <a:avLst/>
          </a:prstGeom>
          <a:solidFill>
            <a:srgbClr val="D9534F"/>
          </a:solidFill>
          <a:ln/>
        </p:spPr>
      </p:sp>
      <p:sp>
        <p:nvSpPr>
          <p:cNvPr id="6" name="Text 3"/>
          <p:cNvSpPr/>
          <p:nvPr/>
        </p:nvSpPr>
        <p:spPr>
          <a:xfrm>
            <a:off x="914400" y="1901952"/>
            <a:ext cx="1828800" cy="365760"/>
          </a:xfrm>
          <a:prstGeom prst="rect">
            <a:avLst/>
          </a:prstGeom>
          <a:noFill/>
          <a:ln/>
        </p:spPr>
        <p:txBody>
          <a:bodyPr wrap="square" rtlCol="0" anchor="ctr"/>
          <a:lstStyle/>
          <a:p>
            <a:pPr indent="0" marL="0">
              <a:buNone/>
            </a:pPr>
            <a:r>
              <a:rPr lang="en-US" sz="1200" b="1" spc="100" kern="0" dirty="0">
                <a:solidFill>
                  <a:srgbClr val="D9534F"/>
                </a:solidFill>
                <a:latin typeface="Arial" pitchFamily="34" charset="0"/>
                <a:ea typeface="Arial" pitchFamily="34" charset="-122"/>
                <a:cs typeface="Arial" pitchFamily="34" charset="-120"/>
              </a:rPr>
              <a:t>TRIGGER</a:t>
            </a:r>
            <a:endParaRPr lang="en-US" sz="1200" dirty="0"/>
          </a:p>
        </p:txBody>
      </p:sp>
      <p:sp>
        <p:nvSpPr>
          <p:cNvPr id="7" name="Text 4"/>
          <p:cNvSpPr/>
          <p:nvPr/>
        </p:nvSpPr>
        <p:spPr>
          <a:xfrm>
            <a:off x="914400" y="22402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Rebooking every confirmed passenger on a cancelled flight, one at a time, genuinely takes a while.</a:t>
            </a:r>
            <a:endParaRPr lang="en-US" sz="1450" dirty="0"/>
          </a:p>
        </p:txBody>
      </p:sp>
      <p:sp>
        <p:nvSpPr>
          <p:cNvPr id="8" name="Shape 5"/>
          <p:cNvSpPr/>
          <p:nvPr/>
        </p:nvSpPr>
        <p:spPr>
          <a:xfrm>
            <a:off x="640080" y="3291840"/>
            <a:ext cx="82296" cy="1051560"/>
          </a:xfrm>
          <a:prstGeom prst="rect">
            <a:avLst/>
          </a:prstGeom>
          <a:solidFill>
            <a:srgbClr val="1E8A8A"/>
          </a:solidFill>
          <a:ln/>
        </p:spPr>
      </p:sp>
      <p:sp>
        <p:nvSpPr>
          <p:cNvPr id="9" name="Text 6"/>
          <p:cNvSpPr/>
          <p:nvPr/>
        </p:nvSpPr>
        <p:spPr>
          <a:xfrm>
            <a:off x="914400" y="3273552"/>
            <a:ext cx="1828800" cy="365760"/>
          </a:xfrm>
          <a:prstGeom prst="rect">
            <a:avLst/>
          </a:prstGeom>
          <a:noFill/>
          <a:ln/>
        </p:spPr>
        <p:txBody>
          <a:bodyPr wrap="square" rtlCol="0" anchor="ctr"/>
          <a:lstStyle/>
          <a:p>
            <a:pPr indent="0" marL="0">
              <a:buNone/>
            </a:pPr>
            <a:r>
              <a:rPr lang="en-US" sz="1200" b="1" spc="100" kern="0" dirty="0">
                <a:solidFill>
                  <a:srgbClr val="1E8A8A"/>
                </a:solidFill>
                <a:latin typeface="Arial" pitchFamily="34" charset="0"/>
                <a:ea typeface="Arial" pitchFamily="34" charset="-122"/>
                <a:cs typeface="Arial" pitchFamily="34" charset="-120"/>
              </a:rPr>
              <a:t>MECHANISM</a:t>
            </a:r>
            <a:endParaRPr lang="en-US" sz="1200" dirty="0"/>
          </a:p>
        </p:txBody>
      </p:sp>
      <p:sp>
        <p:nvSpPr>
          <p:cNvPr id="10" name="Text 7"/>
          <p:cNvSpPr/>
          <p:nvPr/>
        </p:nvSpPr>
        <p:spPr>
          <a:xfrm>
            <a:off x="914400" y="36118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rebook_all_passengers_on_flight loops over every affected booking and calls ctx.report_progress(progress, total, message) before moving each passenger.</a:t>
            </a:r>
            <a:endParaRPr lang="en-US" sz="1450" dirty="0"/>
          </a:p>
        </p:txBody>
      </p:sp>
      <p:sp>
        <p:nvSpPr>
          <p:cNvPr id="11" name="Shape 8"/>
          <p:cNvSpPr/>
          <p:nvPr/>
        </p:nvSpPr>
        <p:spPr>
          <a:xfrm>
            <a:off x="640080" y="4663440"/>
            <a:ext cx="82296" cy="1051560"/>
          </a:xfrm>
          <a:prstGeom prst="rect">
            <a:avLst/>
          </a:prstGeom>
          <a:solidFill>
            <a:srgbClr val="0B3D5C"/>
          </a:solidFill>
          <a:ln/>
        </p:spPr>
      </p:sp>
      <p:sp>
        <p:nvSpPr>
          <p:cNvPr id="12" name="Text 9"/>
          <p:cNvSpPr/>
          <p:nvPr/>
        </p:nvSpPr>
        <p:spPr>
          <a:xfrm>
            <a:off x="914400" y="4645152"/>
            <a:ext cx="1828800" cy="365760"/>
          </a:xfrm>
          <a:prstGeom prst="rect">
            <a:avLst/>
          </a:prstGeom>
          <a:noFill/>
          <a:ln/>
        </p:spPr>
        <p:txBody>
          <a:bodyPr wrap="square" rtlCol="0" anchor="ctr"/>
          <a:lstStyle/>
          <a:p>
            <a:pPr indent="0" marL="0">
              <a:buNone/>
            </a:pPr>
            <a:r>
              <a:rPr lang="en-US" sz="1200" b="1" spc="100" kern="0" dirty="0">
                <a:solidFill>
                  <a:srgbClr val="0B3D5C"/>
                </a:solidFill>
                <a:latin typeface="Arial" pitchFamily="34" charset="0"/>
                <a:ea typeface="Arial" pitchFamily="34" charset="-122"/>
                <a:cs typeface="Arial" pitchFamily="34" charset="-120"/>
              </a:rPr>
              <a:t>OUTCOME</a:t>
            </a:r>
            <a:endParaRPr lang="en-US" sz="1200" dirty="0"/>
          </a:p>
        </p:txBody>
      </p:sp>
      <p:sp>
        <p:nvSpPr>
          <p:cNvPr id="13" name="Text 10"/>
          <p:cNvSpPr/>
          <p:nvPr/>
        </p:nvSpPr>
        <p:spPr>
          <a:xfrm>
            <a:off x="914400" y="49834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The client sees real intermediate progress instead of one blocking response — and an empty batch reports cleanly instead of erroring.</a:t>
            </a:r>
            <a:endParaRPr lang="en-US" sz="1450" dirty="0"/>
          </a:p>
        </p:txBody>
      </p:sp>
      <p:sp>
        <p:nvSpPr>
          <p:cNvPr id="14" name="Shape 11"/>
          <p:cNvSpPr/>
          <p:nvPr/>
        </p:nvSpPr>
        <p:spPr>
          <a:xfrm>
            <a:off x="640080" y="5989320"/>
            <a:ext cx="10881360" cy="548640"/>
          </a:xfrm>
          <a:prstGeom prst="roundRect">
            <a:avLst>
              <a:gd name="adj" fmla="val 13333"/>
            </a:avLst>
          </a:prstGeom>
          <a:solidFill>
            <a:srgbClr val="0B3D5C"/>
          </a:solidFill>
          <a:ln/>
        </p:spPr>
      </p:sp>
      <p:sp>
        <p:nvSpPr>
          <p:cNvPr id="15" name="Text 12"/>
          <p:cNvSpPr/>
          <p:nvPr/>
        </p:nvSpPr>
        <p:spPr>
          <a:xfrm>
            <a:off x="868680" y="5989320"/>
            <a:ext cx="1042416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LIVE NOW:  Rebooking every passenger on BH202 onto BH101 and watching the progress update per passenger in real time.</a:t>
            </a:r>
            <a:endParaRPr lang="en-US" sz="1300" dirty="0"/>
          </a:p>
        </p:txBody>
      </p:sp>
      <p:sp>
        <p:nvSpPr>
          <p:cNvPr id="16" name="Text 13"/>
          <p:cNvSpPr/>
          <p:nvPr/>
        </p:nvSpPr>
        <p:spPr>
          <a:xfrm>
            <a:off x="11612880" y="6446520"/>
            <a:ext cx="457200" cy="320040"/>
          </a:xfrm>
          <a:prstGeom prst="rect">
            <a:avLst/>
          </a:prstGeom>
          <a:noFill/>
          <a:ln/>
        </p:spPr>
        <p:txBody>
          <a:bodyPr wrap="square" rtlCol="0" anchor="ctr"/>
          <a:lstStyle/>
          <a:p>
            <a:pPr algn="r" indent="0" marL="0">
              <a:buNone/>
            </a:pPr>
            <a:r>
              <a:rPr lang="en-US" sz="1100" dirty="0">
                <a:solidFill>
                  <a:srgbClr val="AAAAAA"/>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indent="0" marL="0">
              <a:buNone/>
            </a:pPr>
            <a:r>
              <a:rPr lang="en-US" sz="1300" b="1" spc="200" kern="0" dirty="0">
                <a:solidFill>
                  <a:srgbClr val="1E8A8A"/>
                </a:solidFill>
                <a:latin typeface="Arial" pitchFamily="34" charset="0"/>
                <a:ea typeface="Arial" pitchFamily="34" charset="-122"/>
                <a:cs typeface="Arial" pitchFamily="34" charset="-120"/>
              </a:rPr>
              <a:t>PROTOCOL CONCERN</a:t>
            </a:r>
            <a:endParaRPr lang="en-US" sz="1300" dirty="0"/>
          </a:p>
        </p:txBody>
      </p:sp>
      <p:sp>
        <p:nvSpPr>
          <p:cNvPr id="3" name="Text 1"/>
          <p:cNvSpPr/>
          <p:nvPr/>
        </p:nvSpPr>
        <p:spPr>
          <a:xfrm>
            <a:off x="548640" y="685800"/>
            <a:ext cx="10972800" cy="822960"/>
          </a:xfrm>
          <a:prstGeom prst="rect">
            <a:avLst/>
          </a:prstGeom>
          <a:noFill/>
          <a:ln/>
        </p:spPr>
        <p:txBody>
          <a:bodyPr wrap="square" rtlCol="0" anchor="ctr"/>
          <a:lstStyle/>
          <a:p>
            <a:pPr indent="0" marL="0">
              <a:buNone/>
            </a:pPr>
            <a:r>
              <a:rPr lang="en-US" sz="3000" b="1" dirty="0">
                <a:solidFill>
                  <a:srgbClr val="0B3D5C"/>
                </a:solidFill>
                <a:latin typeface="Arial" pitchFamily="34" charset="0"/>
                <a:ea typeface="Arial" pitchFamily="34" charset="-122"/>
                <a:cs typeface="Arial" pitchFamily="34" charset="-120"/>
              </a:rPr>
              <a:t>Transport — Both, By Design</a:t>
            </a:r>
            <a:endParaRPr lang="en-US" sz="3000" dirty="0"/>
          </a:p>
        </p:txBody>
      </p:sp>
      <p:pic>
        <p:nvPicPr>
          <p:cNvPr id="4" name="Image 0" descr="icon_send.png">    </p:cNvPr>
          <p:cNvPicPr>
            <a:picLocks noChangeAspect="1"/>
          </p:cNvPicPr>
          <p:nvPr/>
        </p:nvPicPr>
        <p:blipFill>
          <a:blip r:embed="rId1"/>
          <a:stretch>
            <a:fillRect/>
          </a:stretch>
        </p:blipFill>
        <p:spPr>
          <a:xfrm>
            <a:off x="10607040" y="502920"/>
            <a:ext cx="1005840" cy="1005840"/>
          </a:xfrm>
          <a:prstGeom prst="rect">
            <a:avLst/>
          </a:prstGeom>
        </p:spPr>
      </p:pic>
      <p:sp>
        <p:nvSpPr>
          <p:cNvPr id="5" name="Shape 2"/>
          <p:cNvSpPr/>
          <p:nvPr/>
        </p:nvSpPr>
        <p:spPr>
          <a:xfrm>
            <a:off x="640080" y="1920240"/>
            <a:ext cx="82296" cy="1051560"/>
          </a:xfrm>
          <a:prstGeom prst="rect">
            <a:avLst/>
          </a:prstGeom>
          <a:solidFill>
            <a:srgbClr val="D9534F"/>
          </a:solidFill>
          <a:ln/>
        </p:spPr>
      </p:sp>
      <p:sp>
        <p:nvSpPr>
          <p:cNvPr id="6" name="Text 3"/>
          <p:cNvSpPr/>
          <p:nvPr/>
        </p:nvSpPr>
        <p:spPr>
          <a:xfrm>
            <a:off x="914400" y="1901952"/>
            <a:ext cx="1828800" cy="365760"/>
          </a:xfrm>
          <a:prstGeom prst="rect">
            <a:avLst/>
          </a:prstGeom>
          <a:noFill/>
          <a:ln/>
        </p:spPr>
        <p:txBody>
          <a:bodyPr wrap="square" rtlCol="0" anchor="ctr"/>
          <a:lstStyle/>
          <a:p>
            <a:pPr indent="0" marL="0">
              <a:buNone/>
            </a:pPr>
            <a:r>
              <a:rPr lang="en-US" sz="1200" b="1" spc="100" kern="0" dirty="0">
                <a:solidFill>
                  <a:srgbClr val="D9534F"/>
                </a:solidFill>
                <a:latin typeface="Arial" pitchFamily="34" charset="0"/>
                <a:ea typeface="Arial" pitchFamily="34" charset="-122"/>
                <a:cs typeface="Arial" pitchFamily="34" charset="-120"/>
              </a:rPr>
              <a:t>TRIGGER</a:t>
            </a:r>
            <a:endParaRPr lang="en-US" sz="1200" dirty="0"/>
          </a:p>
        </p:txBody>
      </p:sp>
      <p:sp>
        <p:nvSpPr>
          <p:cNvPr id="7" name="Text 4"/>
          <p:cNvSpPr/>
          <p:nvPr/>
        </p:nvSpPr>
        <p:spPr>
          <a:xfrm>
            <a:off x="914400" y="22402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One ops agent talking to one local server process (stdio) doesn't match a multi-location airline with many agents needing one shared server.</a:t>
            </a:r>
            <a:endParaRPr lang="en-US" sz="1450" dirty="0"/>
          </a:p>
        </p:txBody>
      </p:sp>
      <p:sp>
        <p:nvSpPr>
          <p:cNvPr id="8" name="Shape 5"/>
          <p:cNvSpPr/>
          <p:nvPr/>
        </p:nvSpPr>
        <p:spPr>
          <a:xfrm>
            <a:off x="640080" y="3291840"/>
            <a:ext cx="82296" cy="1051560"/>
          </a:xfrm>
          <a:prstGeom prst="rect">
            <a:avLst/>
          </a:prstGeom>
          <a:solidFill>
            <a:srgbClr val="1E8A8A"/>
          </a:solidFill>
          <a:ln/>
        </p:spPr>
      </p:sp>
      <p:sp>
        <p:nvSpPr>
          <p:cNvPr id="9" name="Text 6"/>
          <p:cNvSpPr/>
          <p:nvPr/>
        </p:nvSpPr>
        <p:spPr>
          <a:xfrm>
            <a:off x="914400" y="3273552"/>
            <a:ext cx="1828800" cy="365760"/>
          </a:xfrm>
          <a:prstGeom prst="rect">
            <a:avLst/>
          </a:prstGeom>
          <a:noFill/>
          <a:ln/>
        </p:spPr>
        <p:txBody>
          <a:bodyPr wrap="square" rtlCol="0" anchor="ctr"/>
          <a:lstStyle/>
          <a:p>
            <a:pPr indent="0" marL="0">
              <a:buNone/>
            </a:pPr>
            <a:r>
              <a:rPr lang="en-US" sz="1200" b="1" spc="100" kern="0" dirty="0">
                <a:solidFill>
                  <a:srgbClr val="1E8A8A"/>
                </a:solidFill>
                <a:latin typeface="Arial" pitchFamily="34" charset="0"/>
                <a:ea typeface="Arial" pitchFamily="34" charset="-122"/>
                <a:cs typeface="Arial" pitchFamily="34" charset="-120"/>
              </a:rPr>
              <a:t>MECHANISM</a:t>
            </a:r>
            <a:endParaRPr lang="en-US" sz="1200" dirty="0"/>
          </a:p>
        </p:txBody>
      </p:sp>
      <p:sp>
        <p:nvSpPr>
          <p:cNvPr id="10" name="Text 7"/>
          <p:cNvSpPr/>
          <p:nvPr/>
        </p:nvSpPr>
        <p:spPr>
          <a:xfrm>
            <a:off x="914400" y="36118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Built and debugged over stdio first (see early commits); server.py now defaults to Streamable HTTP, with `python server.py stdio` kept as a local-debugging fallback.</a:t>
            </a:r>
            <a:endParaRPr lang="en-US" sz="1450" dirty="0"/>
          </a:p>
        </p:txBody>
      </p:sp>
      <p:sp>
        <p:nvSpPr>
          <p:cNvPr id="11" name="Shape 8"/>
          <p:cNvSpPr/>
          <p:nvPr/>
        </p:nvSpPr>
        <p:spPr>
          <a:xfrm>
            <a:off x="640080" y="4663440"/>
            <a:ext cx="82296" cy="1051560"/>
          </a:xfrm>
          <a:prstGeom prst="rect">
            <a:avLst/>
          </a:prstGeom>
          <a:solidFill>
            <a:srgbClr val="0B3D5C"/>
          </a:solidFill>
          <a:ln/>
        </p:spPr>
      </p:sp>
      <p:sp>
        <p:nvSpPr>
          <p:cNvPr id="12" name="Text 9"/>
          <p:cNvSpPr/>
          <p:nvPr/>
        </p:nvSpPr>
        <p:spPr>
          <a:xfrm>
            <a:off x="914400" y="4645152"/>
            <a:ext cx="1828800" cy="365760"/>
          </a:xfrm>
          <a:prstGeom prst="rect">
            <a:avLst/>
          </a:prstGeom>
          <a:noFill/>
          <a:ln/>
        </p:spPr>
        <p:txBody>
          <a:bodyPr wrap="square" rtlCol="0" anchor="ctr"/>
          <a:lstStyle/>
          <a:p>
            <a:pPr indent="0" marL="0">
              <a:buNone/>
            </a:pPr>
            <a:r>
              <a:rPr lang="en-US" sz="1200" b="1" spc="100" kern="0" dirty="0">
                <a:solidFill>
                  <a:srgbClr val="0B3D5C"/>
                </a:solidFill>
                <a:latin typeface="Arial" pitchFamily="34" charset="0"/>
                <a:ea typeface="Arial" pitchFamily="34" charset="-122"/>
                <a:cs typeface="Arial" pitchFamily="34" charset="-120"/>
              </a:rPr>
              <a:t>OUTCOME</a:t>
            </a:r>
            <a:endParaRPr lang="en-US" sz="1200" dirty="0"/>
          </a:p>
        </p:txBody>
      </p:sp>
      <p:sp>
        <p:nvSpPr>
          <p:cNvPr id="13" name="Text 10"/>
          <p:cNvSpPr/>
          <p:nvPr/>
        </p:nvSpPr>
        <p:spPr>
          <a:xfrm>
            <a:off x="914400" y="4983480"/>
            <a:ext cx="10058400" cy="685800"/>
          </a:xfrm>
          <a:prstGeom prst="rect">
            <a:avLst/>
          </a:prstGeom>
          <a:noFill/>
          <a:ln/>
        </p:spPr>
        <p:txBody>
          <a:bodyPr wrap="square" rtlCol="0" anchor="ctr"/>
          <a:lstStyle/>
          <a:p>
            <a:pPr indent="0" marL="0">
              <a:buNone/>
            </a:pPr>
            <a:r>
              <a:rPr lang="en-US" sz="1450" dirty="0">
                <a:solidFill>
                  <a:srgbClr val="1A1A1A"/>
                </a:solidFill>
                <a:latin typeface="Arial" pitchFamily="34" charset="0"/>
                <a:ea typeface="Arial" pitchFamily="34" charset="-122"/>
                <a:cs typeface="Arial" pitchFamily="34" charset="-120"/>
              </a:rPr>
              <a:t>client_stdio.py remains for quick local testing; client_http.py talks to the deployed Streamable HTTP server the way a real ops agent's client would.</a:t>
            </a:r>
            <a:endParaRPr lang="en-US" sz="1450" dirty="0"/>
          </a:p>
        </p:txBody>
      </p:sp>
      <p:sp>
        <p:nvSpPr>
          <p:cNvPr id="14" name="Shape 11"/>
          <p:cNvSpPr/>
          <p:nvPr/>
        </p:nvSpPr>
        <p:spPr>
          <a:xfrm>
            <a:off x="640080" y="5989320"/>
            <a:ext cx="10881360" cy="548640"/>
          </a:xfrm>
          <a:prstGeom prst="roundRect">
            <a:avLst>
              <a:gd name="adj" fmla="val 13333"/>
            </a:avLst>
          </a:prstGeom>
          <a:solidFill>
            <a:srgbClr val="0B3D5C"/>
          </a:solidFill>
          <a:ln/>
        </p:spPr>
      </p:sp>
      <p:sp>
        <p:nvSpPr>
          <p:cNvPr id="15" name="Text 12"/>
          <p:cNvSpPr/>
          <p:nvPr/>
        </p:nvSpPr>
        <p:spPr>
          <a:xfrm>
            <a:off x="868680" y="5989320"/>
            <a:ext cx="1042416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LIVE NOW:  Showing the commit history's stdio → Streamable HTTP transition, then running client_http.py against the live server.</a:t>
            </a:r>
            <a:endParaRPr lang="en-US" sz="1300" dirty="0"/>
          </a:p>
        </p:txBody>
      </p:sp>
      <p:sp>
        <p:nvSpPr>
          <p:cNvPr id="16" name="Text 13"/>
          <p:cNvSpPr/>
          <p:nvPr/>
        </p:nvSpPr>
        <p:spPr>
          <a:xfrm>
            <a:off x="11612880" y="6446520"/>
            <a:ext cx="457200" cy="320040"/>
          </a:xfrm>
          <a:prstGeom prst="rect">
            <a:avLst/>
          </a:prstGeom>
          <a:noFill/>
          <a:ln/>
        </p:spPr>
        <p:txBody>
          <a:bodyPr wrap="square" rtlCol="0" anchor="ctr"/>
          <a:lstStyle/>
          <a:p>
            <a:pPr algn="r" indent="0" marL="0">
              <a:buNone/>
            </a:pPr>
            <a:r>
              <a:rPr lang="en-US" sz="1100" dirty="0">
                <a:solidFill>
                  <a:srgbClr val="AAAAAA"/>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indent="0" marL="0">
              <a:buNone/>
            </a:pPr>
            <a:r>
              <a:rPr lang="en-US" sz="1300" b="1" spc="200" kern="0" dirty="0">
                <a:solidFill>
                  <a:srgbClr val="1E8A8A"/>
                </a:solidFill>
                <a:latin typeface="Arial" pitchFamily="34" charset="0"/>
                <a:ea typeface="Arial" pitchFamily="34" charset="-122"/>
                <a:cs typeface="Arial" pitchFamily="34" charset="-120"/>
              </a:rPr>
              <a:t>WHERE IT STANDS NOW</a:t>
            </a:r>
            <a:endParaRPr lang="en-US" sz="1300" dirty="0"/>
          </a:p>
        </p:txBody>
      </p:sp>
      <p:sp>
        <p:nvSpPr>
          <p:cNvPr id="3" name="Text 1"/>
          <p:cNvSpPr/>
          <p:nvPr/>
        </p:nvSpPr>
        <p:spPr>
          <a:xfrm>
            <a:off x="548640" y="685800"/>
            <a:ext cx="10972800" cy="822960"/>
          </a:xfrm>
          <a:prstGeom prst="rect">
            <a:avLst/>
          </a:prstGeom>
          <a:noFill/>
          <a:ln/>
        </p:spPr>
        <p:txBody>
          <a:bodyPr wrap="square" rtlCol="0" anchor="ctr"/>
          <a:lstStyle/>
          <a:p>
            <a:pPr indent="0" marL="0">
              <a:buNone/>
            </a:pPr>
            <a:r>
              <a:rPr lang="en-US" sz="3000" b="1" dirty="0">
                <a:solidFill>
                  <a:srgbClr val="0B3D5C"/>
                </a:solidFill>
                <a:latin typeface="Arial" pitchFamily="34" charset="0"/>
                <a:ea typeface="Arial" pitchFamily="34" charset="-122"/>
                <a:cs typeface="Arial" pitchFamily="34" charset="-120"/>
              </a:rPr>
              <a:t>What we'd still worry about in production</a:t>
            </a:r>
            <a:endParaRPr lang="en-US" sz="3000" dirty="0"/>
          </a:p>
        </p:txBody>
      </p:sp>
      <p:pic>
        <p:nvPicPr>
          <p:cNvPr id="4" name="Image 0" descr="icon_alert.png">    </p:cNvPr>
          <p:cNvPicPr>
            <a:picLocks noChangeAspect="1"/>
          </p:cNvPicPr>
          <p:nvPr/>
        </p:nvPicPr>
        <p:blipFill>
          <a:blip r:embed="rId1"/>
          <a:stretch>
            <a:fillRect/>
          </a:stretch>
        </p:blipFill>
        <p:spPr>
          <a:xfrm>
            <a:off x="640080" y="1965960"/>
            <a:ext cx="457200" cy="457200"/>
          </a:xfrm>
          <a:prstGeom prst="rect">
            <a:avLst/>
          </a:prstGeom>
        </p:spPr>
      </p:pic>
      <p:sp>
        <p:nvSpPr>
          <p:cNvPr id="5" name="Text 2"/>
          <p:cNvSpPr/>
          <p:nvPr/>
        </p:nvSpPr>
        <p:spPr>
          <a:xfrm>
            <a:off x="1280160" y="1920240"/>
            <a:ext cx="10241280" cy="411480"/>
          </a:xfrm>
          <a:prstGeom prst="rect">
            <a:avLst/>
          </a:prstGeom>
          <a:noFill/>
          <a:ln/>
        </p:spPr>
        <p:txBody>
          <a:bodyPr wrap="square" rtlCol="0" anchor="ctr"/>
          <a:lstStyle/>
          <a:p>
            <a:pPr indent="0" marL="0">
              <a:buNone/>
            </a:pPr>
            <a:r>
              <a:rPr lang="en-US" sz="1600" b="1" dirty="0">
                <a:solidFill>
                  <a:srgbClr val="D9534F"/>
                </a:solidFill>
                <a:latin typeface="Arial" pitchFamily="34" charset="0"/>
                <a:ea typeface="Arial" pitchFamily="34" charset="-122"/>
                <a:cs typeface="Arial" pitchFamily="34" charset="-120"/>
              </a:rPr>
              <a:t>No audit trail for overrides</a:t>
            </a:r>
            <a:endParaRPr lang="en-US" sz="1600" dirty="0"/>
          </a:p>
        </p:txBody>
      </p:sp>
      <p:sp>
        <p:nvSpPr>
          <p:cNvPr id="6" name="Text 3"/>
          <p:cNvSpPr/>
          <p:nvPr/>
        </p:nvSpPr>
        <p:spPr>
          <a:xfrm>
            <a:off x="1280160" y="2331720"/>
            <a:ext cx="10241280" cy="640080"/>
          </a:xfrm>
          <a:prstGeom prst="rect">
            <a:avLst/>
          </a:prstGeom>
          <a:noFill/>
          <a:ln/>
        </p:spPr>
        <p:txBody>
          <a:bodyPr wrap="square" rtlCol="0" anchor="ctr"/>
          <a:lstStyle/>
          <a:p>
            <a:pPr indent="0" marL="0">
              <a:buNone/>
            </a:pPr>
            <a:r>
              <a:rPr lang="en-US" sz="1350" dirty="0">
                <a:solidFill>
                  <a:srgbClr val="1A1A1A"/>
                </a:solidFill>
                <a:latin typeface="Arial" pitchFamily="34" charset="0"/>
                <a:ea typeface="Arial" pitchFamily="34" charset="-122"/>
                <a:cs typeface="Arial" pitchFamily="34" charset="-120"/>
              </a:rPr>
              <a:t>A supervisor's approval to override a duty-time limit is only text in the response — not written back into duty_time_logs as a queryable flag.</a:t>
            </a:r>
            <a:endParaRPr lang="en-US" sz="1350" dirty="0"/>
          </a:p>
        </p:txBody>
      </p:sp>
      <p:pic>
        <p:nvPicPr>
          <p:cNvPr id="7" name="Image 1" descr="icon_alert.png">    </p:cNvPr>
          <p:cNvPicPr>
            <a:picLocks noChangeAspect="1"/>
          </p:cNvPicPr>
          <p:nvPr/>
        </p:nvPicPr>
        <p:blipFill>
          <a:blip r:embed="rId2"/>
          <a:stretch>
            <a:fillRect/>
          </a:stretch>
        </p:blipFill>
        <p:spPr>
          <a:xfrm>
            <a:off x="640080" y="3337560"/>
            <a:ext cx="457200" cy="457200"/>
          </a:xfrm>
          <a:prstGeom prst="rect">
            <a:avLst/>
          </a:prstGeom>
        </p:spPr>
      </p:pic>
      <p:sp>
        <p:nvSpPr>
          <p:cNvPr id="8" name="Text 4"/>
          <p:cNvSpPr/>
          <p:nvPr/>
        </p:nvSpPr>
        <p:spPr>
          <a:xfrm>
            <a:off x="1280160" y="3291840"/>
            <a:ext cx="10241280" cy="411480"/>
          </a:xfrm>
          <a:prstGeom prst="rect">
            <a:avLst/>
          </a:prstGeom>
          <a:noFill/>
          <a:ln/>
        </p:spPr>
        <p:txBody>
          <a:bodyPr wrap="square" rtlCol="0" anchor="ctr"/>
          <a:lstStyle/>
          <a:p>
            <a:pPr indent="0" marL="0">
              <a:buNone/>
            </a:pPr>
            <a:r>
              <a:rPr lang="en-US" sz="1600" b="1" dirty="0">
                <a:solidFill>
                  <a:srgbClr val="D9534F"/>
                </a:solidFill>
                <a:latin typeface="Arial" pitchFamily="34" charset="0"/>
                <a:ea typeface="Arial" pitchFamily="34" charset="-122"/>
                <a:cs typeface="Arial" pitchFamily="34" charset="-120"/>
              </a:rPr>
              <a:t>Shared session state</a:t>
            </a:r>
            <a:endParaRPr lang="en-US" sz="1600" dirty="0"/>
          </a:p>
        </p:txBody>
      </p:sp>
      <p:sp>
        <p:nvSpPr>
          <p:cNvPr id="9" name="Text 5"/>
          <p:cNvSpPr/>
          <p:nvPr/>
        </p:nvSpPr>
        <p:spPr>
          <a:xfrm>
            <a:off x="1280160" y="3703320"/>
            <a:ext cx="10241280" cy="640080"/>
          </a:xfrm>
          <a:prstGeom prst="rect">
            <a:avLst/>
          </a:prstGeom>
          <a:noFill/>
          <a:ln/>
        </p:spPr>
        <p:txBody>
          <a:bodyPr wrap="square" rtlCol="0" anchor="ctr"/>
          <a:lstStyle/>
          <a:p>
            <a:pPr indent="0" marL="0">
              <a:buNone/>
            </a:pPr>
            <a:r>
              <a:rPr lang="en-US" sz="1350" dirty="0">
                <a:solidFill>
                  <a:srgbClr val="1A1A1A"/>
                </a:solidFill>
                <a:latin typeface="Arial" pitchFamily="34" charset="0"/>
                <a:ea typeface="Arial" pitchFamily="34" charset="-122"/>
                <a:cs typeface="Arial" pitchFamily="34" charset="-120"/>
              </a:rPr>
              <a:t>notifications_logic.py tracks authentication with one shared dict — fine for this single-connection demo, but a real multi-agent deployment over Streamable HTTP needs per-session state.</a:t>
            </a:r>
            <a:endParaRPr lang="en-US" sz="1350" dirty="0"/>
          </a:p>
        </p:txBody>
      </p:sp>
      <p:pic>
        <p:nvPicPr>
          <p:cNvPr id="10" name="Image 2" descr="icon_alert.png">    </p:cNvPr>
          <p:cNvPicPr>
            <a:picLocks noChangeAspect="1"/>
          </p:cNvPicPr>
          <p:nvPr/>
        </p:nvPicPr>
        <p:blipFill>
          <a:blip r:embed="rId3"/>
          <a:stretch>
            <a:fillRect/>
          </a:stretch>
        </p:blipFill>
        <p:spPr>
          <a:xfrm>
            <a:off x="640080" y="4709160"/>
            <a:ext cx="457200" cy="457200"/>
          </a:xfrm>
          <a:prstGeom prst="rect">
            <a:avLst/>
          </a:prstGeom>
        </p:spPr>
      </p:pic>
      <p:sp>
        <p:nvSpPr>
          <p:cNvPr id="11" name="Text 6"/>
          <p:cNvSpPr/>
          <p:nvPr/>
        </p:nvSpPr>
        <p:spPr>
          <a:xfrm>
            <a:off x="1280160" y="4663440"/>
            <a:ext cx="10241280" cy="411480"/>
          </a:xfrm>
          <a:prstGeom prst="rect">
            <a:avLst/>
          </a:prstGeom>
          <a:noFill/>
          <a:ln/>
        </p:spPr>
        <p:txBody>
          <a:bodyPr wrap="square" rtlCol="0" anchor="ctr"/>
          <a:lstStyle/>
          <a:p>
            <a:pPr indent="0" marL="0">
              <a:buNone/>
            </a:pPr>
            <a:r>
              <a:rPr lang="en-US" sz="1600" b="1" dirty="0">
                <a:solidFill>
                  <a:srgbClr val="D9534F"/>
                </a:solidFill>
                <a:latin typeface="Arial" pitchFamily="34" charset="0"/>
                <a:ea typeface="Arial" pitchFamily="34" charset="-122"/>
                <a:cs typeface="Arial" pitchFamily="34" charset="-120"/>
              </a:rPr>
              <a:t>Demo-grade credentials</a:t>
            </a:r>
            <a:endParaRPr lang="en-US" sz="1600" dirty="0"/>
          </a:p>
        </p:txBody>
      </p:sp>
      <p:sp>
        <p:nvSpPr>
          <p:cNvPr id="12" name="Text 7"/>
          <p:cNvSpPr/>
          <p:nvPr/>
        </p:nvSpPr>
        <p:spPr>
          <a:xfrm>
            <a:off x="1280160" y="5074920"/>
            <a:ext cx="10241280" cy="640080"/>
          </a:xfrm>
          <a:prstGeom prst="rect">
            <a:avLst/>
          </a:prstGeom>
          <a:noFill/>
          <a:ln/>
        </p:spPr>
        <p:txBody>
          <a:bodyPr wrap="square" rtlCol="0" anchor="ctr"/>
          <a:lstStyle/>
          <a:p>
            <a:pPr indent="0" marL="0">
              <a:buNone/>
            </a:pPr>
            <a:r>
              <a:rPr lang="en-US" sz="1350" dirty="0">
                <a:solidFill>
                  <a:srgbClr val="1A1A1A"/>
                </a:solidFill>
                <a:latin typeface="Arial" pitchFamily="34" charset="0"/>
                <a:ea typeface="Arial" pitchFamily="34" charset="-122"/>
                <a:cs typeface="Arial" pitchFamily="34" charset="-120"/>
              </a:rPr>
              <a:t>Supervisor PINs are hardcoded for the class project. Production needs real authentication, not a dictionary in source.</a:t>
            </a:r>
            <a:endParaRPr lang="en-US" sz="1350" dirty="0"/>
          </a:p>
        </p:txBody>
      </p:sp>
      <p:sp>
        <p:nvSpPr>
          <p:cNvPr id="13" name="Text 8"/>
          <p:cNvSpPr/>
          <p:nvPr/>
        </p:nvSpPr>
        <p:spPr>
          <a:xfrm>
            <a:off x="11612880" y="6446520"/>
            <a:ext cx="457200" cy="320040"/>
          </a:xfrm>
          <a:prstGeom prst="rect">
            <a:avLst/>
          </a:prstGeom>
          <a:noFill/>
          <a:ln/>
        </p:spPr>
        <p:txBody>
          <a:bodyPr wrap="square" rtlCol="0" anchor="ctr"/>
          <a:lstStyle/>
          <a:p>
            <a:pPr algn="r" indent="0" marL="0">
              <a:buNone/>
            </a:pPr>
            <a:r>
              <a:rPr lang="en-US" sz="1100" dirty="0">
                <a:solidFill>
                  <a:srgbClr val="AAAAAA"/>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3D5C"/>
        </a:solidFill>
      </p:bgPr>
    </p:bg>
    <p:spTree>
      <p:nvGrpSpPr>
        <p:cNvPr id="1" name=""/>
        <p:cNvGrpSpPr/>
        <p:nvPr/>
      </p:nvGrpSpPr>
      <p:grpSpPr>
        <a:xfrm>
          <a:off x="0" y="0"/>
          <a:ext cx="0" cy="0"/>
          <a:chOff x="0" y="0"/>
          <a:chExt cx="0" cy="0"/>
        </a:xfrm>
      </p:grpSpPr>
      <p:sp>
        <p:nvSpPr>
          <p:cNvPr id="2" name="Text 0"/>
          <p:cNvSpPr/>
          <p:nvPr/>
        </p:nvSpPr>
        <p:spPr>
          <a:xfrm>
            <a:off x="640080" y="640080"/>
            <a:ext cx="10881360" cy="64008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What We'd Try Next</a:t>
            </a:r>
            <a:endParaRPr lang="en-US" sz="2800" dirty="0"/>
          </a:p>
        </p:txBody>
      </p:sp>
      <p:sp>
        <p:nvSpPr>
          <p:cNvPr id="3" name="Text 1"/>
          <p:cNvSpPr/>
          <p:nvPr/>
        </p:nvSpPr>
        <p:spPr>
          <a:xfrm>
            <a:off x="914400" y="1920240"/>
            <a:ext cx="10241280" cy="2926080"/>
          </a:xfrm>
          <a:prstGeom prst="rect">
            <a:avLst/>
          </a:prstGeom>
          <a:noFill/>
          <a:ln/>
        </p:spPr>
        <p:txBody>
          <a:bodyPr wrap="square" rtlCol="0" anchor="ctr"/>
          <a:lstStyle/>
          <a:p>
            <a:pPr marL="342900" indent="-342900">
              <a:spcAft>
                <a:spcPts val="1600"/>
              </a:spcAft>
              <a:buSzPct val="100000"/>
              <a:buChar char="•"/>
            </a:pPr>
            <a:r>
              <a:rPr lang="en-US" sz="1700" dirty="0">
                <a:solidFill>
                  <a:srgbClr val="E6F2F2"/>
                </a:solidFill>
                <a:latin typeface="Arial" pitchFamily="34" charset="0"/>
                <a:ea typeface="Arial" pitchFamily="34" charset="-122"/>
                <a:cs typeface="Arial" pitchFamily="34" charset="-120"/>
              </a:rPr>
              <a:t>Persist supervisor overrides as auditable rows, not just response text</a:t>
            </a:r>
            <a:endParaRPr lang="en-US" sz="1700" dirty="0"/>
          </a:p>
          <a:p>
            <a:pPr marL="342900" indent="-342900">
              <a:spcAft>
                <a:spcPts val="1600"/>
              </a:spcAft>
              <a:buSzPct val="100000"/>
              <a:buChar char="•"/>
            </a:pPr>
            <a:r>
              <a:rPr lang="en-US" sz="1700" dirty="0">
                <a:solidFill>
                  <a:srgbClr val="E6F2F2"/>
                </a:solidFill>
                <a:latin typeface="Arial" pitchFamily="34" charset="0"/>
                <a:ea typeface="Arial" pitchFamily="34" charset="-122"/>
                <a:cs typeface="Arial" pitchFamily="34" charset="-120"/>
              </a:rPr>
              <a:t>Move session/auth state to a per-connection store for real multi-agent HTTP use</a:t>
            </a:r>
            <a:endParaRPr lang="en-US" sz="1700" dirty="0"/>
          </a:p>
          <a:p>
            <a:pPr marL="342900" indent="-342900">
              <a:spcAft>
                <a:spcPts val="1600"/>
              </a:spcAft>
              <a:buSzPct val="100000"/>
              <a:buChar char="•"/>
            </a:pPr>
            <a:r>
              <a:rPr lang="en-US" sz="1700" dirty="0">
                <a:solidFill>
                  <a:srgbClr val="E6F2F2"/>
                </a:solidFill>
                <a:latin typeface="Arial" pitchFamily="34" charset="0"/>
                <a:ea typeface="Arial" pitchFamily="34" charset="-122"/>
                <a:cs typeface="Arial" pitchFamily="34" charset="-120"/>
              </a:rPr>
              <a:t>Replace demo PINs with the airline's real identity system</a:t>
            </a:r>
            <a:endParaRPr lang="en-US" sz="1700" dirty="0"/>
          </a:p>
          <a:p>
            <a:pPr marL="342900" indent="-342900">
              <a:spcAft>
                <a:spcPts val="1600"/>
              </a:spcAft>
              <a:buSzPct val="100000"/>
              <a:buChar char="•"/>
            </a:pPr>
            <a:r>
              <a:rPr lang="en-US" sz="1700" dirty="0">
                <a:solidFill>
                  <a:srgbClr val="E6F2F2"/>
                </a:solidFill>
                <a:latin typeface="Arial" pitchFamily="34" charset="0"/>
                <a:ea typeface="Arial" pitchFamily="34" charset="-122"/>
                <a:cs typeface="Arial" pitchFamily="34" charset="-120"/>
              </a:rPr>
              <a:t>Add rate limits and stricter schema constraints (min/max) on compensation amounts</a:t>
            </a:r>
            <a:endParaRPr lang="en-US" sz="1700" dirty="0"/>
          </a:p>
        </p:txBody>
      </p:sp>
      <p:sp>
        <p:nvSpPr>
          <p:cNvPr id="4" name="Text 2"/>
          <p:cNvSpPr/>
          <p:nvPr/>
        </p:nvSpPr>
        <p:spPr>
          <a:xfrm>
            <a:off x="11612880" y="6446520"/>
            <a:ext cx="457200" cy="320040"/>
          </a:xfrm>
          <a:prstGeom prst="rect">
            <a:avLst/>
          </a:prstGeom>
          <a:noFill/>
          <a:ln/>
        </p:spPr>
        <p:txBody>
          <a:bodyPr wrap="square" rtlCol="0" anchor="ctr"/>
          <a:lstStyle/>
          <a:p>
            <a:pPr algn="r" indent="0" marL="0">
              <a:buNone/>
            </a:pPr>
            <a:r>
              <a:rPr lang="en-US" sz="1100" dirty="0">
                <a:solidFill>
                  <a:srgbClr val="AAAAAA"/>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icon_shield.png">    </p:cNvPr>
          <p:cNvPicPr>
            <a:picLocks noChangeAspect="1"/>
          </p:cNvPicPr>
          <p:nvPr/>
        </p:nvPicPr>
        <p:blipFill>
          <a:blip r:embed="rId1"/>
          <a:stretch>
            <a:fillRect/>
          </a:stretch>
        </p:blipFill>
        <p:spPr>
          <a:xfrm>
            <a:off x="5394960" y="1463040"/>
            <a:ext cx="1371600" cy="1371600"/>
          </a:xfrm>
          <a:prstGeom prst="rect">
            <a:avLst/>
          </a:prstGeom>
        </p:spPr>
      </p:pic>
      <p:sp>
        <p:nvSpPr>
          <p:cNvPr id="3" name="Text 0"/>
          <p:cNvSpPr/>
          <p:nvPr/>
        </p:nvSpPr>
        <p:spPr>
          <a:xfrm>
            <a:off x="640080" y="3017520"/>
            <a:ext cx="10881360" cy="731520"/>
          </a:xfrm>
          <a:prstGeom prst="rect">
            <a:avLst/>
          </a:prstGeom>
          <a:noFill/>
          <a:ln/>
        </p:spPr>
        <p:txBody>
          <a:bodyPr wrap="square" rtlCol="0" anchor="ctr"/>
          <a:lstStyle/>
          <a:p>
            <a:pPr algn="ctr" indent="0" marL="0">
              <a:buNone/>
            </a:pPr>
            <a:r>
              <a:rPr lang="en-US" sz="3200" b="1" dirty="0">
                <a:solidFill>
                  <a:srgbClr val="0B3D5C"/>
                </a:solidFill>
                <a:latin typeface="Arial" pitchFamily="34" charset="0"/>
                <a:ea typeface="Arial" pitchFamily="34" charset="-122"/>
                <a:cs typeface="Arial" pitchFamily="34" charset="-120"/>
              </a:rPr>
              <a:t>Thank You</a:t>
            </a:r>
            <a:endParaRPr lang="en-US" sz="3200" dirty="0"/>
          </a:p>
        </p:txBody>
      </p:sp>
      <p:sp>
        <p:nvSpPr>
          <p:cNvPr id="4" name="Text 1"/>
          <p:cNvSpPr/>
          <p:nvPr/>
        </p:nvSpPr>
        <p:spPr>
          <a:xfrm>
            <a:off x="640080" y="3703320"/>
            <a:ext cx="10881360" cy="457200"/>
          </a:xfrm>
          <a:prstGeom prst="rect">
            <a:avLst/>
          </a:prstGeom>
          <a:noFill/>
          <a:ln/>
        </p:spPr>
        <p:txBody>
          <a:bodyPr wrap="square" rtlCol="0" anchor="ctr"/>
          <a:lstStyle/>
          <a:p>
            <a:pPr algn="ctr" indent="0" marL="0">
              <a:buNone/>
            </a:pPr>
            <a:r>
              <a:rPr lang="en-US" sz="1600" dirty="0">
                <a:solidFill>
                  <a:srgbClr val="5A5A5A"/>
                </a:solidFill>
                <a:latin typeface="Arial" pitchFamily="34" charset="0"/>
                <a:ea typeface="Arial" pitchFamily="34" charset="-122"/>
                <a:cs typeface="Arial" pitchFamily="34" charset="-120"/>
              </a:rPr>
              <a:t>Questions?</a:t>
            </a:r>
            <a:endParaRPr lang="en-US" sz="1600" dirty="0"/>
          </a:p>
        </p:txBody>
      </p:sp>
      <p:sp>
        <p:nvSpPr>
          <p:cNvPr id="5" name="Text 2"/>
          <p:cNvSpPr/>
          <p:nvPr/>
        </p:nvSpPr>
        <p:spPr>
          <a:xfrm>
            <a:off x="640080" y="6035040"/>
            <a:ext cx="10881360" cy="365760"/>
          </a:xfrm>
          <a:prstGeom prst="rect">
            <a:avLst/>
          </a:prstGeom>
          <a:noFill/>
          <a:ln/>
        </p:spPr>
        <p:txBody>
          <a:bodyPr wrap="square" rtlCol="0" anchor="ctr"/>
          <a:lstStyle/>
          <a:p>
            <a:pPr algn="ctr" indent="0" marL="0">
              <a:buNone/>
            </a:pPr>
            <a:r>
              <a:rPr lang="en-US" sz="1300" dirty="0">
                <a:solidFill>
                  <a:srgbClr val="5A5A5A"/>
                </a:solidFill>
                <a:latin typeface="Arial" pitchFamily="34" charset="0"/>
                <a:ea typeface="Arial" pitchFamily="34" charset="-122"/>
                <a:cs typeface="Arial" pitchFamily="34" charset="-120"/>
              </a:rPr>
              <a:t>عبدالعزيز سامي   ·   آية سعد   ·   خالد</a:t>
            </a:r>
            <a:endParaRPr lang="en-US" sz="1300" dirty="0"/>
          </a:p>
        </p:txBody>
      </p:sp>
      <p:sp>
        <p:nvSpPr>
          <p:cNvPr id="6" name="Text 3"/>
          <p:cNvSpPr/>
          <p:nvPr/>
        </p:nvSpPr>
        <p:spPr>
          <a:xfrm>
            <a:off x="11612880" y="6446520"/>
            <a:ext cx="457200" cy="320040"/>
          </a:xfrm>
          <a:prstGeom prst="rect">
            <a:avLst/>
          </a:prstGeom>
          <a:noFill/>
          <a:ln/>
        </p:spPr>
        <p:txBody>
          <a:bodyPr wrap="square" rtlCol="0" anchor="ctr"/>
          <a:lstStyle/>
          <a:p>
            <a:pPr algn="r" indent="0" marL="0">
              <a:buNone/>
            </a:pPr>
            <a:r>
              <a:rPr lang="en-US" sz="1100" dirty="0">
                <a:solidFill>
                  <a:srgbClr val="AAAAAA"/>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2026-07-31T19:42:02Z</dcterms:created>
  <dcterms:modified xsi:type="dcterms:W3CDTF">2026-07-31T19:42:02Z</dcterms:modified>
</cp:coreProperties>
</file>